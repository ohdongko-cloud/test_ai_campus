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98480" y="5212080"/>
            <a:ext cx="2377440" cy="2377440"/>
          </a:xfrm>
          <a:prstGeom prst="ellipse">
            <a:avLst/>
          </a:prstGeom>
          <a:solidFill>
            <a:srgbClr val="1B2E5E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-640080"/>
            <a:ext cx="1645920" cy="1645920"/>
          </a:xfrm>
          <a:prstGeom prst="ellipse">
            <a:avLst/>
          </a:prstGeom>
          <a:solidFill>
            <a:srgbClr val="1B2E5E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777240"/>
            <a:ext cx="868680" cy="868680"/>
          </a:xfrm>
          <a:prstGeom prst="roundRect">
            <a:avLst>
              <a:gd name="adj" fmla="val 12632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7772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3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</a:t>
            </a:r>
            <a:endParaRPr lang="en-US" sz="3230" dirty="0"/>
          </a:p>
        </p:txBody>
      </p:sp>
      <p:sp>
        <p:nvSpPr>
          <p:cNvPr id="6" name="Shape 4"/>
          <p:cNvSpPr/>
          <p:nvPr/>
        </p:nvSpPr>
        <p:spPr>
          <a:xfrm>
            <a:off x="1368729" y="691414"/>
            <a:ext cx="225857" cy="225857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148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9DB4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이랜드리테일 AI 캠퍼스 · 개발 워크플로우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542032"/>
            <a:ext cx="10972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PRD → 구현 → 배포</a:t>
            </a:r>
            <a:endParaRPr lang="en-US" sz="4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워크플로우를 스킬로 표준화하기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640080" y="45262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6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PRD 작성 · 리뷰 · task별 커밋 · 푸시 전 보안검토 · 푸시  —  5개 작업을 스킬·지침·훅으로 묶는 설계 제안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5257800"/>
            <a:ext cx="274320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5532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B4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  Claude</a:t>
            </a:r>
            <a:pPr indent="0" marL="0">
              <a:buNone/>
            </a:pPr>
            <a:r>
              <a:rPr lang="en-US" sz="1250" dirty="0">
                <a:solidFill>
                  <a:srgbClr val="264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 |      </a:t>
            </a:r>
            <a:pPr indent="0" marL="0">
              <a:buNone/>
            </a:pPr>
            <a:r>
              <a:rPr lang="en-US" sz="1250" dirty="0">
                <a:solidFill>
                  <a:srgbClr val="9DB4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2026-06-06</a:t>
            </a:r>
            <a:pPr indent="0" marL="0">
              <a:buNone/>
            </a:pPr>
            <a:r>
              <a:rPr lang="en-US" sz="1250" dirty="0">
                <a:solidFill>
                  <a:srgbClr val="264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 |      </a:t>
            </a:r>
            <a:pPr indent="0" marL="0">
              <a:buNone/>
            </a:pPr>
            <a:r>
              <a:rPr lang="en-US" sz="1250" dirty="0">
                <a:solidFill>
                  <a:srgbClr val="9DB4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 오너 + 실습 직원(약 1,800명)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현황 진단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규칙은 이미 탄탄하다 — 남은 건 ‘자동 실행’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프로젝트는 PRD·문서·보안 체계가 잘 잡혀 있다. 빠진 것은 그 규칙을 매번 똑같이 굴려줄 ‘실행 장치’다.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5532120" cy="4160520"/>
          </a:xfrm>
          <a:prstGeom prst="roundRect">
            <a:avLst>
              <a:gd name="adj" fmla="val 1978"/>
            </a:avLst>
          </a:prstGeom>
          <a:solidFill>
            <a:srgbClr val="F5F8FE"/>
          </a:solidFill>
          <a:ln w="12700">
            <a:solidFill>
              <a:srgbClr val="DCE6FA"/>
            </a:solidFill>
            <a:prstDash val="solid"/>
          </a:ln>
          <a:effectLst>
            <a:outerShdw sx="100000" sy="100000" kx="0" ky="0" algn="bl" rotWithShape="0" blurRad="114300" dist="38100" dir="5400000">
              <a:srgbClr val="5B6B86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350008"/>
            <a:ext cx="548640" cy="548640"/>
          </a:xfrm>
          <a:prstGeom prst="ellipse">
            <a:avLst/>
          </a:prstGeom>
          <a:solidFill>
            <a:srgbClr val="15A34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074" y="2481682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386584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갖춰진 강점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950976" y="3182112"/>
            <a:ext cx="109728" cy="109728"/>
          </a:xfrm>
          <a:prstGeom prst="ellipse">
            <a:avLst/>
          </a:prstGeom>
          <a:solidFill>
            <a:srgbClr val="15A34A"/>
          </a:solidFill>
          <a:ln/>
        </p:spPr>
      </p:sp>
      <p:sp>
        <p:nvSpPr>
          <p:cNvPr id="10" name="Text 7"/>
          <p:cNvSpPr/>
          <p:nvPr/>
        </p:nvSpPr>
        <p:spPr>
          <a:xfrm>
            <a:off x="1207008" y="306324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PRD 8섹션 고정 템플릿
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배경·목표/비목표·시나리오·요구사항·엣지·성공기준 일관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950976" y="3785616"/>
            <a:ext cx="109728" cy="109728"/>
          </a:xfrm>
          <a:prstGeom prst="ellipse">
            <a:avLst/>
          </a:prstGeom>
          <a:solidFill>
            <a:srgbClr val="15A34A"/>
          </a:solidFill>
          <a:ln/>
        </p:spPr>
      </p:sp>
      <p:sp>
        <p:nvSpPr>
          <p:cNvPr id="12" name="Text 9"/>
          <p:cNvSpPr/>
          <p:nvPr/>
        </p:nvSpPr>
        <p:spPr>
          <a:xfrm>
            <a:off x="1207008" y="3666744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리빙 독스 운영
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CHANGELOG · CURRENT-STATE · BACKLOG 상시 갱신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950976" y="4389120"/>
            <a:ext cx="109728" cy="109728"/>
          </a:xfrm>
          <a:prstGeom prst="ellipse">
            <a:avLst/>
          </a:prstGeom>
          <a:solidFill>
            <a:srgbClr val="15A34A"/>
          </a:solidFill>
          <a:ln/>
        </p:spPr>
      </p:sp>
      <p:sp>
        <p:nvSpPr>
          <p:cNvPr id="14" name="Text 11"/>
          <p:cNvSpPr/>
          <p:nvPr/>
        </p:nvSpPr>
        <p:spPr>
          <a:xfrm>
            <a:off x="1207008" y="4270248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한글 컨벤셔널 커밋 + PRD 링크
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feat/fix/chore/docs/security, 커밋↔PRD 연결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950976" y="4992624"/>
            <a:ext cx="109728" cy="109728"/>
          </a:xfrm>
          <a:prstGeom prst="ellipse">
            <a:avLst/>
          </a:prstGeom>
          <a:solidFill>
            <a:srgbClr val="15A34A"/>
          </a:solidFill>
          <a:ln/>
        </p:spPr>
      </p:sp>
      <p:sp>
        <p:nvSpPr>
          <p:cNvPr id="16" name="Text 13"/>
          <p:cNvSpPr/>
          <p:nvPr/>
        </p:nvSpPr>
        <p:spPr>
          <a:xfrm>
            <a:off x="1207008" y="4873752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gitleaks pre-commit 훅 (husky)
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스테이지 시크릿 자동 차단 + allowlist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950976" y="5596128"/>
            <a:ext cx="109728" cy="109728"/>
          </a:xfrm>
          <a:prstGeom prst="ellipse">
            <a:avLst/>
          </a:prstGeom>
          <a:solidFill>
            <a:srgbClr val="15A34A"/>
          </a:solidFill>
          <a:ln/>
        </p:spPr>
      </p:sp>
      <p:sp>
        <p:nvSpPr>
          <p:cNvPr id="18" name="Text 15"/>
          <p:cNvSpPr/>
          <p:nvPr/>
        </p:nvSpPr>
        <p:spPr>
          <a:xfrm>
            <a:off x="1207008" y="5477256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§6 보안정책 11개항 명문화
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OTP·bcrypt·JWT·레이트리밋·PII·에러통일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400800" y="2057400"/>
            <a:ext cx="553212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FFEAD6"/>
            </a:solidFill>
            <a:prstDash val="solid"/>
          </a:ln>
          <a:effectLst>
            <a:outerShdw sx="100000" sy="100000" kx="0" ky="0" algn="bl" rotWithShape="0" blurRad="114300" dist="38100" dir="5400000">
              <a:srgbClr val="5B6B86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675120" y="2350008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6794" y="2481682"/>
            <a:ext cx="285293" cy="285293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360920" y="2386584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스킬화로 메울 갭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6711696" y="3182112"/>
            <a:ext cx="109728" cy="10972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4" name="Text 20"/>
          <p:cNvSpPr/>
          <p:nvPr/>
        </p:nvSpPr>
        <p:spPr>
          <a:xfrm>
            <a:off x="6967728" y="306324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.claude 폴더가 통째로 gitignore
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스킬을 만들어도 공유·버전관리가 안 됨 (실습 대상인데!)</a:t>
            </a:r>
            <a:endParaRPr lang="en-US" sz="1350" dirty="0"/>
          </a:p>
        </p:txBody>
      </p:sp>
      <p:sp>
        <p:nvSpPr>
          <p:cNvPr id="25" name="Shape 21"/>
          <p:cNvSpPr/>
          <p:nvPr/>
        </p:nvSpPr>
        <p:spPr>
          <a:xfrm>
            <a:off x="6711696" y="3785616"/>
            <a:ext cx="109728" cy="10972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6" name="Text 22"/>
          <p:cNvSpPr/>
          <p:nvPr/>
        </p:nvSpPr>
        <p:spPr>
          <a:xfrm>
            <a:off x="6967728" y="3666744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단계가 ‘사람 기억’에 의존
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PRD→커밋→보안→푸시 누락·순서 변동 위험</a:t>
            </a:r>
            <a:endParaRPr lang="en-US" sz="1350" dirty="0"/>
          </a:p>
        </p:txBody>
      </p:sp>
      <p:sp>
        <p:nvSpPr>
          <p:cNvPr id="27" name="Shape 23"/>
          <p:cNvSpPr/>
          <p:nvPr/>
        </p:nvSpPr>
        <p:spPr>
          <a:xfrm>
            <a:off x="6711696" y="4389120"/>
            <a:ext cx="109728" cy="10972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8" name="Text 24"/>
          <p:cNvSpPr/>
          <p:nvPr/>
        </p:nvSpPr>
        <p:spPr>
          <a:xfrm>
            <a:off x="6967728" y="4270248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vs 성공기준 검증이 비표준
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‘성공 기준’ 체크박스를 실제로 확인하는 절차 없음</a:t>
            </a:r>
            <a:endParaRPr lang="en-US" sz="1350" dirty="0"/>
          </a:p>
        </p:txBody>
      </p:sp>
      <p:sp>
        <p:nvSpPr>
          <p:cNvPr id="29" name="Shape 25"/>
          <p:cNvSpPr/>
          <p:nvPr/>
        </p:nvSpPr>
        <p:spPr>
          <a:xfrm>
            <a:off x="6711696" y="4992624"/>
            <a:ext cx="109728" cy="10972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0" name="Text 26"/>
          <p:cNvSpPr/>
          <p:nvPr/>
        </p:nvSpPr>
        <p:spPr>
          <a:xfrm>
            <a:off x="6967728" y="4873752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회귀 점검이 산발적
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PII·권한·DB 마이그레이션·모바일 패리티 누락 가능</a:t>
            </a:r>
            <a:endParaRPr lang="en-US" sz="1350" dirty="0"/>
          </a:p>
        </p:txBody>
      </p:sp>
      <p:sp>
        <p:nvSpPr>
          <p:cNvPr id="31" name="Shape 27"/>
          <p:cNvSpPr/>
          <p:nvPr/>
        </p:nvSpPr>
        <p:spPr>
          <a:xfrm>
            <a:off x="6711696" y="5596128"/>
            <a:ext cx="109728" cy="10972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2" name="Text 28"/>
          <p:cNvSpPr/>
          <p:nvPr/>
        </p:nvSpPr>
        <p:spPr>
          <a:xfrm>
            <a:off x="6967728" y="5477256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보안검토가 커밋 훅 1겹뿐
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푸시 범위 전체·정책 매핑 검토는 수동</a:t>
            </a:r>
            <a:endParaRPr lang="en-US" sz="1350" dirty="0"/>
          </a:p>
        </p:txBody>
      </p:sp>
      <p:sp>
        <p:nvSpPr>
          <p:cNvPr id="33" name="Text 29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이랜드리테일 AI 캠퍼스 · PRD 워크플로우 스킬화 제안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11155680" y="641908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 한 장 요약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3겹 구조: 스킬(실행) · 지침(맥락) · 훅(강제)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11535" cy="1810512"/>
          </a:xfrm>
          <a:prstGeom prst="roundRect">
            <a:avLst>
              <a:gd name="adj" fmla="val 4545"/>
            </a:avLst>
          </a:prstGeom>
          <a:solidFill>
            <a:srgbClr val="F5F8FE"/>
          </a:solidFill>
          <a:ln w="12700">
            <a:solidFill>
              <a:srgbClr val="D7E3FA"/>
            </a:solidFill>
            <a:prstDash val="solid"/>
          </a:ln>
          <a:effectLst>
            <a:outerShdw sx="100000" sy="100000" kx="0" ky="0" algn="bl" rotWithShape="0" blurRad="114300" dist="38100" dir="5400000">
              <a:srgbClr val="5B6B86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057400"/>
            <a:ext cx="566928" cy="566928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751" y="2193463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9344" y="216712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스킬  (호출형·다단계)
</a:t>
            </a:r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“할 때마다 똑같이”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160520" y="2002536"/>
            <a:ext cx="1353861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CBD9F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306824" y="2313432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" name="Text 7"/>
          <p:cNvSpPr/>
          <p:nvPr/>
        </p:nvSpPr>
        <p:spPr>
          <a:xfrm>
            <a:off x="4471416" y="2002536"/>
            <a:ext cx="96981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/prd-new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624109" y="2002536"/>
            <a:ext cx="1353861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CBD9F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770413" y="2313432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0"/>
          <p:cNvSpPr/>
          <p:nvPr/>
        </p:nvSpPr>
        <p:spPr>
          <a:xfrm>
            <a:off x="5935005" y="2002536"/>
            <a:ext cx="96981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/prd-review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7087697" y="2002536"/>
            <a:ext cx="1353861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CBD9F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234001" y="2313432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Text 13"/>
          <p:cNvSpPr/>
          <p:nvPr/>
        </p:nvSpPr>
        <p:spPr>
          <a:xfrm>
            <a:off x="7398593" y="2002536"/>
            <a:ext cx="96981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/prd-commit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8551286" y="2002536"/>
            <a:ext cx="1353861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CBD9F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697590" y="2313432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8862182" y="2002536"/>
            <a:ext cx="96981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/security-gate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10014875" y="2002536"/>
            <a:ext cx="1353861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CBD9F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0161179" y="2313432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2" name="Text 19"/>
          <p:cNvSpPr/>
          <p:nvPr/>
        </p:nvSpPr>
        <p:spPr>
          <a:xfrm>
            <a:off x="10325771" y="2002536"/>
            <a:ext cx="96981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/ship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160520" y="2880360"/>
            <a:ext cx="7208215" cy="457200"/>
          </a:xfrm>
          <a:prstGeom prst="roundRect">
            <a:avLst>
              <a:gd name="adj" fmla="val 14000"/>
            </a:avLst>
          </a:prstGeom>
          <a:solidFill>
            <a:srgbClr val="2563EB"/>
          </a:solidFill>
          <a:ln/>
        </p:spPr>
      </p:sp>
      <p:sp>
        <p:nvSpPr>
          <p:cNvPr id="24" name="Shape 21"/>
          <p:cNvSpPr/>
          <p:nvPr/>
        </p:nvSpPr>
        <p:spPr>
          <a:xfrm>
            <a:off x="4306824" y="2953512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976" y="3026664"/>
            <a:ext cx="164592" cy="164592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4727448" y="2880360"/>
            <a:ext cx="6522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/prd-flow  —  5단계를 한 번에 잇는 오케스트레이터 (개별 호출도 가능)</a:t>
            </a:r>
            <a:endParaRPr lang="en-US" sz="1150" dirty="0"/>
          </a:p>
        </p:txBody>
      </p:sp>
      <p:sp>
        <p:nvSpPr>
          <p:cNvPr id="27" name="Text 23"/>
          <p:cNvSpPr/>
          <p:nvPr/>
        </p:nvSpPr>
        <p:spPr>
          <a:xfrm>
            <a:off x="1965960" y="35387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7C4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640080" y="3767328"/>
            <a:ext cx="10911535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5B6B86">
                <a:alpha val="10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932688" y="3950208"/>
            <a:ext cx="548640" cy="548640"/>
          </a:xfrm>
          <a:prstGeom prst="ellipse">
            <a:avLst/>
          </a:prstGeom>
          <a:solidFill>
            <a:srgbClr val="26407A"/>
          </a:solidFill>
          <a:ln/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362" y="4081882"/>
            <a:ext cx="285293" cy="285293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1609344" y="3968496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지침  CLAUDE.md
</a:t>
            </a:r>
            <a:pPr indent="0" marL="0">
              <a:buNone/>
            </a:pPr>
            <a:r>
              <a:rPr lang="en-US" sz="1100" dirty="0">
                <a:solidFill>
                  <a:srgbClr val="264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“모델이 늘 기억해야 할 규칙”</a:t>
            </a:r>
            <a:endParaRPr lang="en-US" sz="1500" dirty="0"/>
          </a:p>
        </p:txBody>
      </p:sp>
      <p:sp>
        <p:nvSpPr>
          <p:cNvPr id="32" name="Shape 27"/>
          <p:cNvSpPr/>
          <p:nvPr/>
        </p:nvSpPr>
        <p:spPr>
          <a:xfrm>
            <a:off x="4160520" y="4041648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EAF0FC"/>
          </a:solidFill>
          <a:ln/>
        </p:spPr>
      </p:sp>
      <p:sp>
        <p:nvSpPr>
          <p:cNvPr id="33" name="Text 28"/>
          <p:cNvSpPr/>
          <p:nvPr/>
        </p:nvSpPr>
        <p:spPr>
          <a:xfrm>
            <a:off x="4160520" y="404164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E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커밋 컨벤션</a:t>
            </a:r>
            <a:endParaRPr lang="en-US" sz="1050" dirty="0"/>
          </a:p>
        </p:txBody>
      </p:sp>
      <p:sp>
        <p:nvSpPr>
          <p:cNvPr id="34" name="Shape 29"/>
          <p:cNvSpPr/>
          <p:nvPr/>
        </p:nvSpPr>
        <p:spPr>
          <a:xfrm>
            <a:off x="5285232" y="4041648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EAF0FC"/>
          </a:solidFill>
          <a:ln/>
        </p:spPr>
      </p:sp>
      <p:sp>
        <p:nvSpPr>
          <p:cNvPr id="35" name="Text 30"/>
          <p:cNvSpPr/>
          <p:nvPr/>
        </p:nvSpPr>
        <p:spPr>
          <a:xfrm>
            <a:off x="5285232" y="40416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E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§6 보안정책</a:t>
            </a:r>
            <a:endParaRPr lang="en-US" sz="1050" dirty="0"/>
          </a:p>
        </p:txBody>
      </p:sp>
      <p:sp>
        <p:nvSpPr>
          <p:cNvPr id="36" name="Shape 31"/>
          <p:cNvSpPr/>
          <p:nvPr/>
        </p:nvSpPr>
        <p:spPr>
          <a:xfrm>
            <a:off x="6547104" y="4041648"/>
            <a:ext cx="822960" cy="365760"/>
          </a:xfrm>
          <a:prstGeom prst="roundRect">
            <a:avLst>
              <a:gd name="adj" fmla="val 50000"/>
            </a:avLst>
          </a:prstGeom>
          <a:solidFill>
            <a:srgbClr val="EAF0FC"/>
          </a:solidFill>
          <a:ln/>
        </p:spPr>
      </p:sp>
      <p:sp>
        <p:nvSpPr>
          <p:cNvPr id="37" name="Text 32"/>
          <p:cNvSpPr/>
          <p:nvPr/>
        </p:nvSpPr>
        <p:spPr>
          <a:xfrm>
            <a:off x="6547104" y="404164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E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맵</a:t>
            </a:r>
            <a:endParaRPr lang="en-US" sz="1050" dirty="0"/>
          </a:p>
        </p:txBody>
      </p:sp>
      <p:sp>
        <p:nvSpPr>
          <p:cNvPr id="38" name="Shape 33"/>
          <p:cNvSpPr/>
          <p:nvPr/>
        </p:nvSpPr>
        <p:spPr>
          <a:xfrm>
            <a:off x="7443216" y="4041648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EAF0FC"/>
          </a:solidFill>
          <a:ln/>
        </p:spPr>
      </p:sp>
      <p:sp>
        <p:nvSpPr>
          <p:cNvPr id="39" name="Text 34"/>
          <p:cNvSpPr/>
          <p:nvPr/>
        </p:nvSpPr>
        <p:spPr>
          <a:xfrm>
            <a:off x="7443216" y="40416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E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빌드 게이트</a:t>
            </a:r>
            <a:endParaRPr lang="en-US" sz="1050" dirty="0"/>
          </a:p>
        </p:txBody>
      </p:sp>
      <p:sp>
        <p:nvSpPr>
          <p:cNvPr id="40" name="Shape 35"/>
          <p:cNvSpPr/>
          <p:nvPr/>
        </p:nvSpPr>
        <p:spPr>
          <a:xfrm>
            <a:off x="8613648" y="404164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0FC"/>
          </a:solidFill>
          <a:ln/>
        </p:spPr>
      </p:sp>
      <p:sp>
        <p:nvSpPr>
          <p:cNvPr id="41" name="Text 36"/>
          <p:cNvSpPr/>
          <p:nvPr/>
        </p:nvSpPr>
        <p:spPr>
          <a:xfrm>
            <a:off x="8613648" y="404164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E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PII·에러통일</a:t>
            </a:r>
            <a:endParaRPr lang="en-US" sz="1050" dirty="0"/>
          </a:p>
        </p:txBody>
      </p:sp>
      <p:sp>
        <p:nvSpPr>
          <p:cNvPr id="42" name="Shape 37"/>
          <p:cNvSpPr/>
          <p:nvPr/>
        </p:nvSpPr>
        <p:spPr>
          <a:xfrm>
            <a:off x="10012680" y="4041648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EAF0FC"/>
          </a:solidFill>
          <a:ln/>
        </p:spPr>
      </p:sp>
      <p:sp>
        <p:nvSpPr>
          <p:cNvPr id="43" name="Text 38"/>
          <p:cNvSpPr/>
          <p:nvPr/>
        </p:nvSpPr>
        <p:spPr>
          <a:xfrm>
            <a:off x="10012680" y="40416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E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리빙독스 갱신</a:t>
            </a:r>
            <a:endParaRPr lang="en-US" sz="1050" dirty="0"/>
          </a:p>
        </p:txBody>
      </p:sp>
      <p:sp>
        <p:nvSpPr>
          <p:cNvPr id="44" name="Text 39"/>
          <p:cNvSpPr/>
          <p:nvPr/>
        </p:nvSpPr>
        <p:spPr>
          <a:xfrm>
            <a:off x="1965960" y="462686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7C4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200" dirty="0"/>
          </a:p>
        </p:txBody>
      </p:sp>
      <p:sp>
        <p:nvSpPr>
          <p:cNvPr id="45" name="Shape 40"/>
          <p:cNvSpPr/>
          <p:nvPr/>
        </p:nvSpPr>
        <p:spPr>
          <a:xfrm>
            <a:off x="640080" y="4864608"/>
            <a:ext cx="10911535" cy="914400"/>
          </a:xfrm>
          <a:prstGeom prst="roundRect">
            <a:avLst>
              <a:gd name="adj" fmla="val 9000"/>
            </a:avLst>
          </a:prstGeom>
          <a:solidFill>
            <a:srgbClr val="0F1E46"/>
          </a:solidFill>
          <a:ln w="12700">
            <a:solidFill>
              <a:srgbClr val="0F1E46"/>
            </a:solidFill>
            <a:prstDash val="solid"/>
          </a:ln>
          <a:effectLst>
            <a:outerShdw sx="100000" sy="100000" kx="0" ky="0" algn="bl" rotWithShape="0" blurRad="114300" dist="38100" dir="5400000">
              <a:srgbClr val="5B6B86">
                <a:alpha val="10000"/>
              </a:srgbClr>
            </a:outerShdw>
          </a:effectLst>
        </p:spPr>
      </p:sp>
      <p:sp>
        <p:nvSpPr>
          <p:cNvPr id="46" name="Shape 41"/>
          <p:cNvSpPr/>
          <p:nvPr/>
        </p:nvSpPr>
        <p:spPr>
          <a:xfrm>
            <a:off x="932688" y="5047488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4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4362" y="5179162"/>
            <a:ext cx="285293" cy="285293"/>
          </a:xfrm>
          <a:prstGeom prst="rect">
            <a:avLst/>
          </a:prstGeom>
        </p:spPr>
      </p:pic>
      <p:sp>
        <p:nvSpPr>
          <p:cNvPr id="48" name="Text 42"/>
          <p:cNvSpPr/>
          <p:nvPr/>
        </p:nvSpPr>
        <p:spPr>
          <a:xfrm>
            <a:off x="1609344" y="5065776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훅  (자동 강제)
</a:t>
            </a:r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“잊어도 빠지지 않게”</a:t>
            </a:r>
            <a:endParaRPr lang="en-US" sz="1500" dirty="0"/>
          </a:p>
        </p:txBody>
      </p:sp>
      <p:sp>
        <p:nvSpPr>
          <p:cNvPr id="49" name="Shape 43"/>
          <p:cNvSpPr/>
          <p:nvPr/>
        </p:nvSpPr>
        <p:spPr>
          <a:xfrm>
            <a:off x="4160520" y="5138928"/>
            <a:ext cx="3200400" cy="365760"/>
          </a:xfrm>
          <a:prstGeom prst="roundRect">
            <a:avLst>
              <a:gd name="adj" fmla="val 50000"/>
            </a:avLst>
          </a:prstGeom>
          <a:solidFill>
            <a:srgbClr val="1B2E5E"/>
          </a:solidFill>
          <a:ln w="12700">
            <a:solidFill>
              <a:srgbClr val="15A34A"/>
            </a:solidFill>
            <a:prstDash val="solid"/>
          </a:ln>
        </p:spPr>
      </p:sp>
      <p:sp>
        <p:nvSpPr>
          <p:cNvPr id="50" name="Shape 44"/>
          <p:cNvSpPr/>
          <p:nvPr/>
        </p:nvSpPr>
        <p:spPr>
          <a:xfrm>
            <a:off x="4325112" y="5285232"/>
            <a:ext cx="91440" cy="91440"/>
          </a:xfrm>
          <a:prstGeom prst="ellipse">
            <a:avLst/>
          </a:prstGeom>
          <a:solidFill>
            <a:srgbClr val="15A34A"/>
          </a:solidFill>
          <a:ln/>
        </p:spPr>
      </p:sp>
      <p:sp>
        <p:nvSpPr>
          <p:cNvPr id="51" name="Text 45"/>
          <p:cNvSpPr/>
          <p:nvPr/>
        </p:nvSpPr>
        <p:spPr>
          <a:xfrm>
            <a:off x="4471416" y="5138928"/>
            <a:ext cx="281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pre-commit · gitleaks  (있음)</a:t>
            </a:r>
            <a:endParaRPr lang="en-US" sz="1050" dirty="0"/>
          </a:p>
        </p:txBody>
      </p:sp>
      <p:sp>
        <p:nvSpPr>
          <p:cNvPr id="52" name="Shape 46"/>
          <p:cNvSpPr/>
          <p:nvPr/>
        </p:nvSpPr>
        <p:spPr>
          <a:xfrm>
            <a:off x="7543800" y="5138928"/>
            <a:ext cx="3749040" cy="365760"/>
          </a:xfrm>
          <a:prstGeom prst="roundRect">
            <a:avLst>
              <a:gd name="adj" fmla="val 50000"/>
            </a:avLst>
          </a:prstGeom>
          <a:solidFill>
            <a:srgbClr val="1B2E5E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3" name="Shape 47"/>
          <p:cNvSpPr/>
          <p:nvPr/>
        </p:nvSpPr>
        <p:spPr>
          <a:xfrm>
            <a:off x="7708392" y="5285232"/>
            <a:ext cx="91440" cy="914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54" name="Text 48"/>
          <p:cNvSpPr/>
          <p:nvPr/>
        </p:nvSpPr>
        <p:spPr>
          <a:xfrm>
            <a:off x="7854696" y="5138928"/>
            <a:ext cx="3364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pre-push · 빌드+시크릿 게이트  (제안)</a:t>
            </a:r>
            <a:endParaRPr lang="en-US" sz="1050" dirty="0"/>
          </a:p>
        </p:txBody>
      </p:sp>
      <p:sp>
        <p:nvSpPr>
          <p:cNvPr id="55" name="Text 49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이랜드리테일 AI 캠퍼스 · PRD 워크플로우 스킬화 제안</a:t>
            </a:r>
            <a:endParaRPr lang="en-US" sz="900" dirty="0"/>
          </a:p>
        </p:txBody>
      </p:sp>
      <p:sp>
        <p:nvSpPr>
          <p:cNvPr id="56" name="Text 50"/>
          <p:cNvSpPr/>
          <p:nvPr/>
        </p:nvSpPr>
        <p:spPr>
          <a:xfrm>
            <a:off x="11155680" y="641908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원칙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어디에 무엇을 둘까 — 셋의 역할 분담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484778" cy="3703320"/>
          </a:xfrm>
          <a:prstGeom prst="roundRect">
            <a:avLst>
              <a:gd name="adj" fmla="val 2362"/>
            </a:avLst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sx="100000" sy="100000" kx="0" ky="0" algn="bl" rotWithShape="0" blurRad="114300" dist="38100" dir="5400000">
              <a:srgbClr val="5B6B86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920240"/>
            <a:ext cx="3484778" cy="128016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932688" y="2304288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307" y="2457907"/>
            <a:ext cx="332842" cy="33284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00784" y="2304288"/>
            <a:ext cx="2296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스킬 (Skill)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700784" y="2670048"/>
            <a:ext cx="2296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호출형 · 다단계 절차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914400" y="3200400"/>
            <a:ext cx="2936138" cy="566928"/>
          </a:xfrm>
          <a:prstGeom prst="roundRect">
            <a:avLst>
              <a:gd name="adj" fmla="val 9677"/>
            </a:avLst>
          </a:prstGeom>
          <a:solidFill>
            <a:srgbClr val="F5F8FE"/>
          </a:solidFill>
          <a:ln/>
        </p:spPr>
      </p:sp>
      <p:sp>
        <p:nvSpPr>
          <p:cNvPr id="11" name="Text 8"/>
          <p:cNvSpPr/>
          <p:nvPr/>
        </p:nvSpPr>
        <p:spPr>
          <a:xfrm>
            <a:off x="1051560" y="3200400"/>
            <a:ext cx="26618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“할 때마다 동일한 순서로 실행”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960120" y="4041648"/>
            <a:ext cx="100584" cy="10058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0"/>
          <p:cNvSpPr/>
          <p:nvPr/>
        </p:nvSpPr>
        <p:spPr>
          <a:xfrm>
            <a:off x="1188720" y="3950208"/>
            <a:ext cx="26618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PRD 작성 · 리뷰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60120" y="4407408"/>
            <a:ext cx="100584" cy="10058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2"/>
          <p:cNvSpPr/>
          <p:nvPr/>
        </p:nvSpPr>
        <p:spPr>
          <a:xfrm>
            <a:off x="1188720" y="4315968"/>
            <a:ext cx="26618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task별 커밋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960120" y="4773168"/>
            <a:ext cx="100584" cy="10058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7" name="Text 14"/>
          <p:cNvSpPr/>
          <p:nvPr/>
        </p:nvSpPr>
        <p:spPr>
          <a:xfrm>
            <a:off x="1188720" y="4681728"/>
            <a:ext cx="26618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보안검토 · 푸시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914400" y="5166360"/>
            <a:ext cx="2936138" cy="0"/>
          </a:xfrm>
          <a:prstGeom prst="line">
            <a:avLst/>
          </a:prstGeom>
          <a:noFill/>
          <a:ln w="12700">
            <a:solidFill>
              <a:srgbClr val="E5E9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14400" y="5230368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‘시작’만 하면 절차 전체를 대신 수행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353458" y="1920240"/>
            <a:ext cx="3484778" cy="3703320"/>
          </a:xfrm>
          <a:prstGeom prst="roundRect">
            <a:avLst>
              <a:gd name="adj" fmla="val 2362"/>
            </a:avLst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sx="100000" sy="100000" kx="0" ky="0" algn="bl" rotWithShape="0" blurRad="114300" dist="38100" dir="5400000">
              <a:srgbClr val="5B6B86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353458" y="1920240"/>
            <a:ext cx="3484778" cy="128016"/>
          </a:xfrm>
          <a:prstGeom prst="roundRect">
            <a:avLst>
              <a:gd name="adj" fmla="val 14286"/>
            </a:avLst>
          </a:prstGeom>
          <a:solidFill>
            <a:srgbClr val="26407A"/>
          </a:solidFill>
          <a:ln/>
        </p:spPr>
      </p:sp>
      <p:sp>
        <p:nvSpPr>
          <p:cNvPr id="22" name="Shape 19"/>
          <p:cNvSpPr/>
          <p:nvPr/>
        </p:nvSpPr>
        <p:spPr>
          <a:xfrm>
            <a:off x="4646066" y="2304288"/>
            <a:ext cx="640080" cy="640080"/>
          </a:xfrm>
          <a:prstGeom prst="ellipse">
            <a:avLst/>
          </a:prstGeom>
          <a:solidFill>
            <a:srgbClr val="26407A"/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9686" y="2457907"/>
            <a:ext cx="332842" cy="332842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414162" y="2304288"/>
            <a:ext cx="2296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지침 (CLAUDE.md)</a:t>
            </a:r>
            <a:endParaRPr lang="en-US" sz="1700" dirty="0"/>
          </a:p>
        </p:txBody>
      </p:sp>
      <p:sp>
        <p:nvSpPr>
          <p:cNvPr id="25" name="Text 21"/>
          <p:cNvSpPr/>
          <p:nvPr/>
        </p:nvSpPr>
        <p:spPr>
          <a:xfrm>
            <a:off x="5414162" y="2670048"/>
            <a:ext cx="2296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항상 적용 · 맥락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4627778" y="3200400"/>
            <a:ext cx="2936138" cy="566928"/>
          </a:xfrm>
          <a:prstGeom prst="roundRect">
            <a:avLst>
              <a:gd name="adj" fmla="val 9677"/>
            </a:avLst>
          </a:prstGeom>
          <a:solidFill>
            <a:srgbClr val="EAF0FC"/>
          </a:solidFill>
          <a:ln/>
        </p:spPr>
      </p:sp>
      <p:sp>
        <p:nvSpPr>
          <p:cNvPr id="27" name="Text 23"/>
          <p:cNvSpPr/>
          <p:nvPr/>
        </p:nvSpPr>
        <p:spPr>
          <a:xfrm>
            <a:off x="4764938" y="3200400"/>
            <a:ext cx="26618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264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“모델이 늘 기억해야 할 규칙·사실”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4673498" y="4041648"/>
            <a:ext cx="100584" cy="100584"/>
          </a:xfrm>
          <a:prstGeom prst="ellipse">
            <a:avLst/>
          </a:prstGeom>
          <a:solidFill>
            <a:srgbClr val="26407A"/>
          </a:solidFill>
          <a:ln/>
        </p:spPr>
      </p:sp>
      <p:sp>
        <p:nvSpPr>
          <p:cNvPr id="29" name="Text 25"/>
          <p:cNvSpPr/>
          <p:nvPr/>
        </p:nvSpPr>
        <p:spPr>
          <a:xfrm>
            <a:off x="4902098" y="3950208"/>
            <a:ext cx="26618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커밋·코드 컨벤션</a:t>
            </a:r>
            <a:endParaRPr lang="en-US" sz="1250" dirty="0"/>
          </a:p>
        </p:txBody>
      </p:sp>
      <p:sp>
        <p:nvSpPr>
          <p:cNvPr id="30" name="Shape 26"/>
          <p:cNvSpPr/>
          <p:nvPr/>
        </p:nvSpPr>
        <p:spPr>
          <a:xfrm>
            <a:off x="4673498" y="4407408"/>
            <a:ext cx="100584" cy="100584"/>
          </a:xfrm>
          <a:prstGeom prst="ellipse">
            <a:avLst/>
          </a:prstGeom>
          <a:solidFill>
            <a:srgbClr val="26407A"/>
          </a:solidFill>
          <a:ln/>
        </p:spPr>
      </p:sp>
      <p:sp>
        <p:nvSpPr>
          <p:cNvPr id="31" name="Text 27"/>
          <p:cNvSpPr/>
          <p:nvPr/>
        </p:nvSpPr>
        <p:spPr>
          <a:xfrm>
            <a:off x="4902098" y="4315968"/>
            <a:ext cx="26618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§6 보안정책 요약</a:t>
            </a:r>
            <a:endParaRPr lang="en-US" sz="1250" dirty="0"/>
          </a:p>
        </p:txBody>
      </p:sp>
      <p:sp>
        <p:nvSpPr>
          <p:cNvPr id="32" name="Shape 28"/>
          <p:cNvSpPr/>
          <p:nvPr/>
        </p:nvSpPr>
        <p:spPr>
          <a:xfrm>
            <a:off x="4673498" y="4773168"/>
            <a:ext cx="100584" cy="100584"/>
          </a:xfrm>
          <a:prstGeom prst="ellipse">
            <a:avLst/>
          </a:prstGeom>
          <a:solidFill>
            <a:srgbClr val="26407A"/>
          </a:solidFill>
          <a:ln/>
        </p:spPr>
      </p:sp>
      <p:sp>
        <p:nvSpPr>
          <p:cNvPr id="33" name="Text 29"/>
          <p:cNvSpPr/>
          <p:nvPr/>
        </p:nvSpPr>
        <p:spPr>
          <a:xfrm>
            <a:off x="4902098" y="4681728"/>
            <a:ext cx="26618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맵 · 빌드 규칙</a:t>
            </a:r>
            <a:endParaRPr lang="en-US" sz="1250" dirty="0"/>
          </a:p>
        </p:txBody>
      </p:sp>
      <p:sp>
        <p:nvSpPr>
          <p:cNvPr id="34" name="Shape 30"/>
          <p:cNvSpPr/>
          <p:nvPr/>
        </p:nvSpPr>
        <p:spPr>
          <a:xfrm>
            <a:off x="4627778" y="5166360"/>
            <a:ext cx="2936138" cy="0"/>
          </a:xfrm>
          <a:prstGeom prst="line">
            <a:avLst/>
          </a:prstGeom>
          <a:noFill/>
          <a:ln w="12700">
            <a:solidFill>
              <a:srgbClr val="E5E9F0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627778" y="5230368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 호출 없이 모든 작업에 자동 반영</a:t>
            </a:r>
            <a:endParaRPr lang="en-US" sz="1050" dirty="0"/>
          </a:p>
        </p:txBody>
      </p:sp>
      <p:sp>
        <p:nvSpPr>
          <p:cNvPr id="36" name="Shape 32"/>
          <p:cNvSpPr/>
          <p:nvPr/>
        </p:nvSpPr>
        <p:spPr>
          <a:xfrm>
            <a:off x="8066837" y="1920240"/>
            <a:ext cx="3484778" cy="3703320"/>
          </a:xfrm>
          <a:prstGeom prst="roundRect">
            <a:avLst>
              <a:gd name="adj" fmla="val 2362"/>
            </a:avLst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sx="100000" sy="100000" kx="0" ky="0" algn="bl" rotWithShape="0" blurRad="114300" dist="38100" dir="5400000">
              <a:srgbClr val="5B6B86">
                <a:alpha val="10000"/>
              </a:srgbClr>
            </a:outerShdw>
          </a:effectLst>
        </p:spPr>
      </p:sp>
      <p:sp>
        <p:nvSpPr>
          <p:cNvPr id="37" name="Shape 33"/>
          <p:cNvSpPr/>
          <p:nvPr/>
        </p:nvSpPr>
        <p:spPr>
          <a:xfrm>
            <a:off x="8066837" y="1920240"/>
            <a:ext cx="3484778" cy="128016"/>
          </a:xfrm>
          <a:prstGeom prst="roundRect">
            <a:avLst>
              <a:gd name="adj" fmla="val 14286"/>
            </a:avLst>
          </a:prstGeom>
          <a:solidFill>
            <a:srgbClr val="F97316"/>
          </a:solidFill>
          <a:ln/>
        </p:spPr>
      </p:sp>
      <p:sp>
        <p:nvSpPr>
          <p:cNvPr id="38" name="Shape 34"/>
          <p:cNvSpPr/>
          <p:nvPr/>
        </p:nvSpPr>
        <p:spPr>
          <a:xfrm>
            <a:off x="8359445" y="2304288"/>
            <a:ext cx="640080" cy="64008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3064" y="2457907"/>
            <a:ext cx="332842" cy="332842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9127541" y="2304288"/>
            <a:ext cx="2296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훅 (Hooks)</a:t>
            </a:r>
            <a:endParaRPr lang="en-US" sz="1700" dirty="0"/>
          </a:p>
        </p:txBody>
      </p:sp>
      <p:sp>
        <p:nvSpPr>
          <p:cNvPr id="41" name="Text 36"/>
          <p:cNvSpPr/>
          <p:nvPr/>
        </p:nvSpPr>
        <p:spPr>
          <a:xfrm>
            <a:off x="9127541" y="2670048"/>
            <a:ext cx="2296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강제 · 가드레일</a:t>
            </a:r>
            <a:endParaRPr lang="en-US" sz="1100" dirty="0"/>
          </a:p>
        </p:txBody>
      </p:sp>
      <p:sp>
        <p:nvSpPr>
          <p:cNvPr id="42" name="Shape 37"/>
          <p:cNvSpPr/>
          <p:nvPr/>
        </p:nvSpPr>
        <p:spPr>
          <a:xfrm>
            <a:off x="8341157" y="3200400"/>
            <a:ext cx="2936138" cy="566928"/>
          </a:xfrm>
          <a:prstGeom prst="roundRect">
            <a:avLst>
              <a:gd name="adj" fmla="val 9677"/>
            </a:avLst>
          </a:prstGeom>
          <a:solidFill>
            <a:srgbClr val="FFEAD6"/>
          </a:solidFill>
          <a:ln/>
        </p:spPr>
      </p:sp>
      <p:sp>
        <p:nvSpPr>
          <p:cNvPr id="43" name="Text 38"/>
          <p:cNvSpPr/>
          <p:nvPr/>
        </p:nvSpPr>
        <p:spPr>
          <a:xfrm>
            <a:off x="8478317" y="3200400"/>
            <a:ext cx="26618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C27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“잊어도 절대 빠지면 안 되는 것”</a:t>
            </a:r>
            <a:endParaRPr lang="en-US" sz="1200" dirty="0"/>
          </a:p>
        </p:txBody>
      </p:sp>
      <p:sp>
        <p:nvSpPr>
          <p:cNvPr id="44" name="Shape 39"/>
          <p:cNvSpPr/>
          <p:nvPr/>
        </p:nvSpPr>
        <p:spPr>
          <a:xfrm>
            <a:off x="8386877" y="4041648"/>
            <a:ext cx="100584" cy="10058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45" name="Text 40"/>
          <p:cNvSpPr/>
          <p:nvPr/>
        </p:nvSpPr>
        <p:spPr>
          <a:xfrm>
            <a:off x="8615477" y="3950208"/>
            <a:ext cx="26618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시크릿 스캔(gitleaks)</a:t>
            </a:r>
            <a:endParaRPr lang="en-US" sz="1250" dirty="0"/>
          </a:p>
        </p:txBody>
      </p:sp>
      <p:sp>
        <p:nvSpPr>
          <p:cNvPr id="46" name="Shape 41"/>
          <p:cNvSpPr/>
          <p:nvPr/>
        </p:nvSpPr>
        <p:spPr>
          <a:xfrm>
            <a:off x="8386877" y="4407408"/>
            <a:ext cx="100584" cy="10058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47" name="Text 42"/>
          <p:cNvSpPr/>
          <p:nvPr/>
        </p:nvSpPr>
        <p:spPr>
          <a:xfrm>
            <a:off x="8615477" y="4315968"/>
            <a:ext cx="26618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빌드 통과 게이트</a:t>
            </a:r>
            <a:endParaRPr lang="en-US" sz="1250" dirty="0"/>
          </a:p>
        </p:txBody>
      </p:sp>
      <p:sp>
        <p:nvSpPr>
          <p:cNvPr id="48" name="Shape 43"/>
          <p:cNvSpPr/>
          <p:nvPr/>
        </p:nvSpPr>
        <p:spPr>
          <a:xfrm>
            <a:off x="8386877" y="4773168"/>
            <a:ext cx="100584" cy="10058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49" name="Text 44"/>
          <p:cNvSpPr/>
          <p:nvPr/>
        </p:nvSpPr>
        <p:spPr>
          <a:xfrm>
            <a:off x="8615477" y="4681728"/>
            <a:ext cx="26618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푸시 전 차단</a:t>
            </a:r>
            <a:endParaRPr lang="en-US" sz="1250" dirty="0"/>
          </a:p>
        </p:txBody>
      </p:sp>
      <p:sp>
        <p:nvSpPr>
          <p:cNvPr id="50" name="Shape 45"/>
          <p:cNvSpPr/>
          <p:nvPr/>
        </p:nvSpPr>
        <p:spPr>
          <a:xfrm>
            <a:off x="8341157" y="5166360"/>
            <a:ext cx="2936138" cy="0"/>
          </a:xfrm>
          <a:prstGeom prst="line">
            <a:avLst/>
          </a:prstGeom>
          <a:noFill/>
          <a:ln w="12700">
            <a:solidFill>
              <a:srgbClr val="E5E9F0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8341157" y="5230368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모델·사람의 기억과 무관하게 강제 실행</a:t>
            </a:r>
            <a:endParaRPr lang="en-US" sz="1050" dirty="0"/>
          </a:p>
        </p:txBody>
      </p:sp>
      <p:sp>
        <p:nvSpPr>
          <p:cNvPr id="52" name="Text 47"/>
          <p:cNvSpPr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   </a:t>
            </a:r>
            <a:pPr algn="ctr" indent="0" marL="0">
              <a:buNone/>
            </a:pPr>
            <a:r>
              <a:rPr lang="en-US" sz="1250" dirty="0">
                <a:solidFill>
                  <a:srgbClr val="1B2E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‘기억에 의존’할수록 약하고, 아래로 내려(지침→훅) 보낼수록 강하다. 빠지면 치명적인 것일수록 훅으로.</a:t>
            </a:r>
            <a:endParaRPr lang="en-US" sz="1250" dirty="0"/>
          </a:p>
        </p:txBody>
      </p:sp>
      <p:sp>
        <p:nvSpPr>
          <p:cNvPr id="53" name="Text 48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이랜드리테일 AI 캠퍼스 · PRD 워크플로우 스킬화 제안</a:t>
            </a:r>
            <a:endParaRPr lang="en-US" sz="900" dirty="0"/>
          </a:p>
        </p:txBody>
      </p:sp>
      <p:sp>
        <p:nvSpPr>
          <p:cNvPr id="54" name="Text 49"/>
          <p:cNvSpPr/>
          <p:nvPr/>
        </p:nvSpPr>
        <p:spPr>
          <a:xfrm>
            <a:off x="11155680" y="641908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워크플로우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PRD에서 배포까지 — 한 흐름, 두 개의 게이트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840099" y="2743200"/>
            <a:ext cx="717543" cy="0"/>
          </a:xfrm>
          <a:prstGeom prst="line">
            <a:avLst/>
          </a:prstGeom>
          <a:noFill/>
          <a:ln w="25400">
            <a:solidFill>
              <a:srgbClr val="C2CEE6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3398890" y="2743200"/>
            <a:ext cx="717543" cy="0"/>
          </a:xfrm>
          <a:prstGeom prst="line">
            <a:avLst/>
          </a:prstGeom>
          <a:noFill/>
          <a:ln w="25400">
            <a:solidFill>
              <a:srgbClr val="C2CEE6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957681" y="2743200"/>
            <a:ext cx="717543" cy="0"/>
          </a:xfrm>
          <a:prstGeom prst="line">
            <a:avLst/>
          </a:prstGeom>
          <a:noFill/>
          <a:ln w="25400">
            <a:solidFill>
              <a:srgbClr val="C2CEE6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516472" y="2743200"/>
            <a:ext cx="717543" cy="0"/>
          </a:xfrm>
          <a:prstGeom prst="line">
            <a:avLst/>
          </a:prstGeom>
          <a:noFill/>
          <a:ln w="25400">
            <a:solidFill>
              <a:srgbClr val="C2CEE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075262" y="2743200"/>
            <a:ext cx="717543" cy="0"/>
          </a:xfrm>
          <a:prstGeom prst="line">
            <a:avLst/>
          </a:prstGeom>
          <a:noFill/>
          <a:ln w="25400">
            <a:solidFill>
              <a:srgbClr val="C2CEE6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634053" y="2743200"/>
            <a:ext cx="717543" cy="0"/>
          </a:xfrm>
          <a:prstGeom prst="line">
            <a:avLst/>
          </a:prstGeom>
          <a:noFill/>
          <a:ln w="25400">
            <a:solidFill>
              <a:srgbClr val="C2CEE6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044571" y="2368296"/>
            <a:ext cx="749808" cy="7498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1044571" y="236829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58" dirty="0"/>
          </a:p>
        </p:txBody>
      </p:sp>
      <p:sp>
        <p:nvSpPr>
          <p:cNvPr id="12" name="Text 10"/>
          <p:cNvSpPr/>
          <p:nvPr/>
        </p:nvSpPr>
        <p:spPr>
          <a:xfrm>
            <a:off x="640080" y="3246120"/>
            <a:ext cx="155879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PRD 작성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0080" y="3529584"/>
            <a:ext cx="15587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/prd-new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603362" y="2368296"/>
            <a:ext cx="749808" cy="749808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5" name="Text 13"/>
          <p:cNvSpPr/>
          <p:nvPr/>
        </p:nvSpPr>
        <p:spPr>
          <a:xfrm>
            <a:off x="2603362" y="236829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58" dirty="0"/>
          </a:p>
        </p:txBody>
      </p:sp>
      <p:sp>
        <p:nvSpPr>
          <p:cNvPr id="16" name="Text 14"/>
          <p:cNvSpPr/>
          <p:nvPr/>
        </p:nvSpPr>
        <p:spPr>
          <a:xfrm>
            <a:off x="2198871" y="3246120"/>
            <a:ext cx="155879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198871" y="3529584"/>
            <a:ext cx="15587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사람 + AI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079857" y="2286000"/>
            <a:ext cx="914400" cy="914400"/>
          </a:xfrm>
          <a:prstGeom prst="ellipse">
            <a:avLst/>
          </a:prstGeom>
          <a:solidFill>
            <a:srgbClr val="EAF0FC"/>
          </a:solidFill>
          <a:ln/>
        </p:spPr>
      </p:sp>
      <p:sp>
        <p:nvSpPr>
          <p:cNvPr id="19" name="Shape 17"/>
          <p:cNvSpPr/>
          <p:nvPr/>
        </p:nvSpPr>
        <p:spPr>
          <a:xfrm>
            <a:off x="4162153" y="2368296"/>
            <a:ext cx="749808" cy="7498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4162153" y="236829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58" dirty="0"/>
          </a:p>
        </p:txBody>
      </p:sp>
      <p:sp>
        <p:nvSpPr>
          <p:cNvPr id="21" name="Text 19"/>
          <p:cNvSpPr/>
          <p:nvPr/>
        </p:nvSpPr>
        <p:spPr>
          <a:xfrm>
            <a:off x="3757661" y="3246120"/>
            <a:ext cx="155879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PRD 리뷰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757661" y="3529584"/>
            <a:ext cx="15587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/prd-review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034137" y="1801368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4034137" y="18013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720944" y="2368296"/>
            <a:ext cx="749808" cy="7498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5720944" y="236829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58" dirty="0"/>
          </a:p>
        </p:txBody>
      </p:sp>
      <p:sp>
        <p:nvSpPr>
          <p:cNvPr id="27" name="Text 25"/>
          <p:cNvSpPr/>
          <p:nvPr/>
        </p:nvSpPr>
        <p:spPr>
          <a:xfrm>
            <a:off x="5316452" y="3246120"/>
            <a:ext cx="155879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task별 커밋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316452" y="3529584"/>
            <a:ext cx="15587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/prd-commit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197438" y="2286000"/>
            <a:ext cx="914400" cy="914400"/>
          </a:xfrm>
          <a:prstGeom prst="ellipse">
            <a:avLst/>
          </a:prstGeom>
          <a:solidFill>
            <a:srgbClr val="FFEAD6"/>
          </a:solidFill>
          <a:ln/>
        </p:spPr>
      </p:sp>
      <p:sp>
        <p:nvSpPr>
          <p:cNvPr id="30" name="Shape 28"/>
          <p:cNvSpPr/>
          <p:nvPr/>
        </p:nvSpPr>
        <p:spPr>
          <a:xfrm>
            <a:off x="7279734" y="2368296"/>
            <a:ext cx="749808" cy="74980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1" name="Text 29"/>
          <p:cNvSpPr/>
          <p:nvPr/>
        </p:nvSpPr>
        <p:spPr>
          <a:xfrm>
            <a:off x="7279734" y="236829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558" dirty="0"/>
          </a:p>
        </p:txBody>
      </p:sp>
      <p:sp>
        <p:nvSpPr>
          <p:cNvPr id="32" name="Text 30"/>
          <p:cNvSpPr/>
          <p:nvPr/>
        </p:nvSpPr>
        <p:spPr>
          <a:xfrm>
            <a:off x="6875243" y="3246120"/>
            <a:ext cx="155879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보안검토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875243" y="3529584"/>
            <a:ext cx="15587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/security-gate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151718" y="1801368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5" name="Text 33"/>
          <p:cNvSpPr/>
          <p:nvPr/>
        </p:nvSpPr>
        <p:spPr>
          <a:xfrm>
            <a:off x="7151718" y="18013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838525" y="2368296"/>
            <a:ext cx="749808" cy="749808"/>
          </a:xfrm>
          <a:prstGeom prst="ellipse">
            <a:avLst/>
          </a:prstGeom>
          <a:solidFill>
            <a:srgbClr val="15A34A"/>
          </a:solidFill>
          <a:ln/>
        </p:spPr>
      </p:sp>
      <p:sp>
        <p:nvSpPr>
          <p:cNvPr id="37" name="Text 35"/>
          <p:cNvSpPr/>
          <p:nvPr/>
        </p:nvSpPr>
        <p:spPr>
          <a:xfrm>
            <a:off x="8838525" y="236829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558" dirty="0"/>
          </a:p>
        </p:txBody>
      </p:sp>
      <p:sp>
        <p:nvSpPr>
          <p:cNvPr id="38" name="Text 36"/>
          <p:cNvSpPr/>
          <p:nvPr/>
        </p:nvSpPr>
        <p:spPr>
          <a:xfrm>
            <a:off x="8434034" y="3246120"/>
            <a:ext cx="155879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푸시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8434034" y="3529584"/>
            <a:ext cx="15587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/ship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0397316" y="2368296"/>
            <a:ext cx="749808" cy="749808"/>
          </a:xfrm>
          <a:prstGeom prst="ellipse">
            <a:avLst/>
          </a:prstGeom>
          <a:solidFill>
            <a:srgbClr val="26407A"/>
          </a:solidFill>
          <a:ln/>
        </p:spPr>
      </p:sp>
      <p:sp>
        <p:nvSpPr>
          <p:cNvPr id="41" name="Text 39"/>
          <p:cNvSpPr/>
          <p:nvPr/>
        </p:nvSpPr>
        <p:spPr>
          <a:xfrm>
            <a:off x="10397316" y="236829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8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558" dirty="0"/>
          </a:p>
        </p:txBody>
      </p:sp>
      <p:sp>
        <p:nvSpPr>
          <p:cNvPr id="42" name="Text 40"/>
          <p:cNvSpPr/>
          <p:nvPr/>
        </p:nvSpPr>
        <p:spPr>
          <a:xfrm>
            <a:off x="9992824" y="3246120"/>
            <a:ext cx="155879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검증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9992824" y="3529584"/>
            <a:ext cx="15587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Vercel·DB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654638" y="3895344"/>
            <a:ext cx="0" cy="310896"/>
          </a:xfrm>
          <a:prstGeom prst="line">
            <a:avLst/>
          </a:prstGeom>
          <a:noFill/>
          <a:ln w="25400">
            <a:solidFill>
              <a:srgbClr val="F97316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>
            <a:off x="2978266" y="4206240"/>
            <a:ext cx="4676372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>
            <a:off x="2978266" y="3895344"/>
            <a:ext cx="0" cy="310896"/>
          </a:xfrm>
          <a:prstGeom prst="line">
            <a:avLst/>
          </a:prstGeom>
          <a:noFill/>
          <a:ln w="25400">
            <a:solidFill>
              <a:srgbClr val="F97316"/>
            </a:solidFill>
            <a:prstDash val="dash"/>
            <a:headEnd type="triangle"/>
          </a:ln>
        </p:spPr>
      </p:sp>
      <p:sp>
        <p:nvSpPr>
          <p:cNvPr id="47" name="Text 45"/>
          <p:cNvSpPr/>
          <p:nvPr/>
        </p:nvSpPr>
        <p:spPr>
          <a:xfrm>
            <a:off x="4354177" y="424281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27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리뷰·보안검토에서 막히면 → 구현으로 되돌아가 수정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40080" y="5074920"/>
            <a:ext cx="5532120" cy="1051560"/>
          </a:xfrm>
          <a:prstGeom prst="roundRect">
            <a:avLst>
              <a:gd name="adj" fmla="val 7826"/>
            </a:avLst>
          </a:prstGeom>
          <a:solidFill>
            <a:srgbClr val="F5F8FE"/>
          </a:solidFill>
          <a:ln w="12700">
            <a:solidFill>
              <a:srgbClr val="D7E3FA"/>
            </a:solidFill>
            <a:prstDash val="solid"/>
          </a:ln>
          <a:effectLst>
            <a:outerShdw sx="100000" sy="100000" kx="0" ky="0" algn="bl" rotWithShape="0" blurRad="114300" dist="38100" dir="5400000">
              <a:srgbClr val="5B6B86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896112" y="5367528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5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5477256"/>
            <a:ext cx="237744" cy="237744"/>
          </a:xfrm>
          <a:prstGeom prst="rect">
            <a:avLst/>
          </a:prstGeom>
        </p:spPr>
      </p:pic>
      <p:sp>
        <p:nvSpPr>
          <p:cNvPr id="51" name="Text 48"/>
          <p:cNvSpPr/>
          <p:nvPr/>
        </p:nvSpPr>
        <p:spPr>
          <a:xfrm>
            <a:off x="1508760" y="525780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 ①  품질  </a:t>
            </a:r>
            <a:pPr indent="0" marL="0">
              <a:buNone/>
            </a:pPr>
            <a:r>
              <a:rPr lang="en-US" sz="11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/prd-review
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구현이 PRD의 ‘성공 기준’을 실제로 충족하는지 검증</a:t>
            </a:r>
            <a:endParaRPr lang="en-US" sz="1300" dirty="0"/>
          </a:p>
        </p:txBody>
      </p:sp>
      <p:sp>
        <p:nvSpPr>
          <p:cNvPr id="52" name="Shape 49"/>
          <p:cNvSpPr/>
          <p:nvPr/>
        </p:nvSpPr>
        <p:spPr>
          <a:xfrm>
            <a:off x="6400800" y="5074920"/>
            <a:ext cx="553212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FFEAD6"/>
            </a:solidFill>
            <a:prstDash val="solid"/>
          </a:ln>
          <a:effectLst>
            <a:outerShdw sx="100000" sy="100000" kx="0" ky="0" algn="bl" rotWithShape="0" blurRad="114300" dist="38100" dir="5400000">
              <a:srgbClr val="5B6B86">
                <a:alpha val="10000"/>
              </a:srgbClr>
            </a:outerShdw>
          </a:effectLst>
        </p:spPr>
      </p:sp>
      <p:sp>
        <p:nvSpPr>
          <p:cNvPr id="53" name="Shape 50"/>
          <p:cNvSpPr/>
          <p:nvPr/>
        </p:nvSpPr>
        <p:spPr>
          <a:xfrm>
            <a:off x="6656832" y="5367528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5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5477256"/>
            <a:ext cx="237744" cy="237744"/>
          </a:xfrm>
          <a:prstGeom prst="rect">
            <a:avLst/>
          </a:prstGeom>
        </p:spPr>
      </p:pic>
      <p:sp>
        <p:nvSpPr>
          <p:cNvPr id="55" name="Text 51"/>
          <p:cNvSpPr/>
          <p:nvPr/>
        </p:nvSpPr>
        <p:spPr>
          <a:xfrm>
            <a:off x="7269480" y="525780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 ②  보안  </a:t>
            </a:r>
            <a:pPr indent="0" marL="0">
              <a:buNone/>
            </a:pPr>
            <a:r>
              <a:rPr lang="en-US" sz="1100" dirty="0">
                <a:solidFill>
                  <a:srgbClr val="C27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/security-gate
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시크릿·PII·정책 위반을 푸시 전에 차단</a:t>
            </a:r>
            <a:endParaRPr lang="en-US" sz="1300" dirty="0"/>
          </a:p>
        </p:txBody>
      </p:sp>
      <p:sp>
        <p:nvSpPr>
          <p:cNvPr id="56" name="Text 52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이랜드리테일 AI 캠퍼스 · PRD 워크플로우 스킬화 제안</a:t>
            </a:r>
            <a:endParaRPr lang="en-US" sz="900" dirty="0"/>
          </a:p>
        </p:txBody>
      </p:sp>
      <p:sp>
        <p:nvSpPr>
          <p:cNvPr id="57" name="Text 53"/>
          <p:cNvSpPr/>
          <p:nvPr/>
        </p:nvSpPr>
        <p:spPr>
          <a:xfrm>
            <a:off x="11155680" y="641908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스킬 ① — PRD 작성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640080" y="713232"/>
            <a:ext cx="841248" cy="841248"/>
          </a:xfrm>
          <a:prstGeom prst="roundRect">
            <a:avLst>
              <a:gd name="adj" fmla="val 7609"/>
            </a:avLst>
          </a:prstGeom>
          <a:solidFill>
            <a:srgbClr val="2563E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980" y="915132"/>
            <a:ext cx="437449" cy="43744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1640" y="713232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/prd-new
</a:t>
            </a:r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한 줄 → 8섹션 PRD 초안 + 문서 등록까지 자동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11338560" y="749808"/>
            <a:ext cx="566928" cy="566928"/>
          </a:xfrm>
          <a:prstGeom prst="ellipse">
            <a:avLst/>
          </a:prstGeom>
          <a:solidFill>
            <a:srgbClr val="EAF0FC"/>
          </a:solidFill>
          <a:ln/>
        </p:spPr>
      </p:sp>
      <p:sp>
        <p:nvSpPr>
          <p:cNvPr id="7" name="Text 4"/>
          <p:cNvSpPr/>
          <p:nvPr/>
        </p:nvSpPr>
        <p:spPr>
          <a:xfrm>
            <a:off x="11338560" y="7498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640080" y="1965960"/>
            <a:ext cx="594360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sx="100000" sy="100000" kx="0" ky="0" algn="bl" rotWithShape="0" blurRad="114300" dist="38100" dir="5400000">
              <a:srgbClr val="5B6B86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32688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동작 단계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914400" y="2779776"/>
            <a:ext cx="402336" cy="40233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27797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836" dirty="0"/>
          </a:p>
        </p:txBody>
      </p:sp>
      <p:sp>
        <p:nvSpPr>
          <p:cNvPr id="12" name="Text 9"/>
          <p:cNvSpPr/>
          <p:nvPr/>
        </p:nvSpPr>
        <p:spPr>
          <a:xfrm>
            <a:off x="1481328" y="2743200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요약 받기
</a:t>
            </a:r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2~3개 질문으로 범위·대상·제약 확정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914400" y="3438144"/>
            <a:ext cx="402336" cy="40233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" y="3438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836" dirty="0"/>
          </a:p>
        </p:txBody>
      </p:sp>
      <p:sp>
        <p:nvSpPr>
          <p:cNvPr id="15" name="Text 12"/>
          <p:cNvSpPr/>
          <p:nvPr/>
        </p:nvSpPr>
        <p:spPr>
          <a:xfrm>
            <a:off x="1481328" y="3401568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PRD 톤 학습
</a:t>
            </a:r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docs/prd 최근 문서 구조·문체에 맞춤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914400" y="4096512"/>
            <a:ext cx="402336" cy="40233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7" name="Text 14"/>
          <p:cNvSpPr/>
          <p:nvPr/>
        </p:nvSpPr>
        <p:spPr>
          <a:xfrm>
            <a:off x="914400" y="4096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836" dirty="0"/>
          </a:p>
        </p:txBody>
      </p:sp>
      <p:sp>
        <p:nvSpPr>
          <p:cNvPr id="18" name="Text 15"/>
          <p:cNvSpPr/>
          <p:nvPr/>
        </p:nvSpPr>
        <p:spPr>
          <a:xfrm>
            <a:off x="1481328" y="4059936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8섹션 채우기
</a:t>
            </a:r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배경·목표/비목표·시나리오·요구사항·UX·엣지·성공기준·미해결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914400" y="4754880"/>
            <a:ext cx="402336" cy="40233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0" name="Text 17"/>
          <p:cNvSpPr/>
          <p:nvPr/>
        </p:nvSpPr>
        <p:spPr>
          <a:xfrm>
            <a:off x="914400" y="4754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836" dirty="0"/>
          </a:p>
        </p:txBody>
      </p:sp>
      <p:sp>
        <p:nvSpPr>
          <p:cNvPr id="21" name="Text 18"/>
          <p:cNvSpPr/>
          <p:nvPr/>
        </p:nvSpPr>
        <p:spPr>
          <a:xfrm>
            <a:off x="1481328" y="4718304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보안·영향 섹션 자동 삽입
</a:t>
            </a:r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auth·PII·DB 건드리면 ‘보안 고려’ 항목 강제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914400" y="5413248"/>
            <a:ext cx="402336" cy="40233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3" name="Text 20"/>
          <p:cNvSpPr/>
          <p:nvPr/>
        </p:nvSpPr>
        <p:spPr>
          <a:xfrm>
            <a:off x="914400" y="5413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836" dirty="0"/>
          </a:p>
        </p:txBody>
      </p:sp>
      <p:sp>
        <p:nvSpPr>
          <p:cNvPr id="24" name="Text 21"/>
          <p:cNvSpPr/>
          <p:nvPr/>
        </p:nvSpPr>
        <p:spPr>
          <a:xfrm>
            <a:off x="1481328" y="5376672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+ 등록
</a:t>
            </a:r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docs/prd/YYYY-MM-DD-slug.md · CHANGELOG·BACKLOG 등록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6812280" y="1965960"/>
            <a:ext cx="5349240" cy="2697480"/>
          </a:xfrm>
          <a:prstGeom prst="roundRect">
            <a:avLst>
              <a:gd name="adj" fmla="val 3051"/>
            </a:avLst>
          </a:prstGeom>
          <a:solidFill>
            <a:srgbClr val="0F1E46"/>
          </a:solidFill>
          <a:ln w="12700">
            <a:solidFill>
              <a:srgbClr val="0F1E46"/>
            </a:solidFill>
            <a:prstDash val="solid"/>
          </a:ln>
          <a:effectLst>
            <a:outerShdw sx="100000" sy="100000" kx="0" ky="0" algn="bl" rotWithShape="0" blurRad="114300" dist="38100" dir="5400000">
              <a:srgbClr val="5B6B86">
                <a:alpha val="10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7086600" y="216712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 PRD 템플릿 (8섹션)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7104888" y="2651760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1B2E5E"/>
          </a:solidFill>
          <a:ln/>
        </p:spPr>
      </p:sp>
      <p:sp>
        <p:nvSpPr>
          <p:cNvPr id="28" name="Text 25"/>
          <p:cNvSpPr/>
          <p:nvPr/>
        </p:nvSpPr>
        <p:spPr>
          <a:xfrm>
            <a:off x="7214616" y="265176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1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배경/문제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9592056" y="2651760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1B2E5E"/>
          </a:solidFill>
          <a:ln/>
        </p:spPr>
      </p:sp>
      <p:sp>
        <p:nvSpPr>
          <p:cNvPr id="30" name="Text 27"/>
          <p:cNvSpPr/>
          <p:nvPr/>
        </p:nvSpPr>
        <p:spPr>
          <a:xfrm>
            <a:off x="9701784" y="265176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1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목표·비목표 (G/non)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7104888" y="3108960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1B2E5E"/>
          </a:solidFill>
          <a:ln/>
        </p:spPr>
      </p:sp>
      <p:sp>
        <p:nvSpPr>
          <p:cNvPr id="32" name="Text 29"/>
          <p:cNvSpPr/>
          <p:nvPr/>
        </p:nvSpPr>
        <p:spPr>
          <a:xfrm>
            <a:off x="7214616" y="310896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1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사용자 시나리오 (S)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9592056" y="3108960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1B2E5E"/>
          </a:solidFill>
          <a:ln/>
        </p:spPr>
      </p:sp>
      <p:sp>
        <p:nvSpPr>
          <p:cNvPr id="34" name="Text 31"/>
          <p:cNvSpPr/>
          <p:nvPr/>
        </p:nvSpPr>
        <p:spPr>
          <a:xfrm>
            <a:off x="9701784" y="310896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1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기능 요구사항 (F)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7104888" y="3566160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1B2E5E"/>
          </a:solidFill>
          <a:ln/>
        </p:spPr>
      </p:sp>
      <p:sp>
        <p:nvSpPr>
          <p:cNvPr id="36" name="Text 33"/>
          <p:cNvSpPr/>
          <p:nvPr/>
        </p:nvSpPr>
        <p:spPr>
          <a:xfrm>
            <a:off x="7214616" y="356616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1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UX/디자인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9592056" y="3566160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1B2E5E"/>
          </a:solidFill>
          <a:ln/>
        </p:spPr>
      </p:sp>
      <p:sp>
        <p:nvSpPr>
          <p:cNvPr id="38" name="Text 35"/>
          <p:cNvSpPr/>
          <p:nvPr/>
        </p:nvSpPr>
        <p:spPr>
          <a:xfrm>
            <a:off x="9701784" y="356616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1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엣지 케이스(표)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7104888" y="4023360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1B2E5E"/>
          </a:solidFill>
          <a:ln/>
        </p:spPr>
      </p:sp>
      <p:sp>
        <p:nvSpPr>
          <p:cNvPr id="40" name="Text 37"/>
          <p:cNvSpPr/>
          <p:nvPr/>
        </p:nvSpPr>
        <p:spPr>
          <a:xfrm>
            <a:off x="7214616" y="402336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1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성공 기준(체크박스)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592056" y="4023360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1B2E5E"/>
          </a:solidFill>
          <a:ln/>
        </p:spPr>
      </p:sp>
      <p:sp>
        <p:nvSpPr>
          <p:cNvPr id="42" name="Text 39"/>
          <p:cNvSpPr/>
          <p:nvPr/>
        </p:nvSpPr>
        <p:spPr>
          <a:xfrm>
            <a:off x="9701784" y="402336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1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미해결 질문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6812280" y="4800600"/>
            <a:ext cx="5349240" cy="1280160"/>
          </a:xfrm>
          <a:prstGeom prst="roundRect">
            <a:avLst>
              <a:gd name="adj" fmla="val 6429"/>
            </a:avLst>
          </a:prstGeom>
          <a:solidFill>
            <a:srgbClr val="F5F8FE"/>
          </a:solidFill>
          <a:ln w="12700">
            <a:solidFill>
              <a:srgbClr val="D7E3FA"/>
            </a:solidFill>
            <a:prstDash val="solid"/>
          </a:ln>
          <a:effectLst>
            <a:outerShdw sx="100000" sy="100000" kx="0" ky="0" algn="bl" rotWithShape="0" blurRad="114300" dist="38100" dir="5400000">
              <a:srgbClr val="5B6B86">
                <a:alpha val="10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7068312" y="5001768"/>
            <a:ext cx="420624" cy="420624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4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9262" y="5102718"/>
            <a:ext cx="218724" cy="218724"/>
          </a:xfrm>
          <a:prstGeom prst="rect">
            <a:avLst/>
          </a:prstGeom>
        </p:spPr>
      </p:pic>
      <p:sp>
        <p:nvSpPr>
          <p:cNvPr id="46" name="Text 42"/>
          <p:cNvSpPr/>
          <p:nvPr/>
        </p:nvSpPr>
        <p:spPr>
          <a:xfrm>
            <a:off x="7616952" y="4910328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프로젝트 특화
</a:t>
            </a:r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기능이 인증·PII·마이그레이션을 건드리면 PRD에 보안 영향·마이그레이션 필요 여부를 자동 표기 → 리뷰·보안검토와 연결</a:t>
            </a:r>
            <a:endParaRPr lang="en-US" sz="1250" dirty="0"/>
          </a:p>
        </p:txBody>
      </p:sp>
      <p:sp>
        <p:nvSpPr>
          <p:cNvPr id="47" name="Text 43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이랜드리테일 AI 캠퍼스 · PRD 워크플로우 스킬화 제안</a:t>
            </a:r>
            <a:endParaRPr lang="en-US" sz="900" dirty="0"/>
          </a:p>
        </p:txBody>
      </p:sp>
      <p:sp>
        <p:nvSpPr>
          <p:cNvPr id="48" name="Text 44"/>
          <p:cNvSpPr/>
          <p:nvPr/>
        </p:nvSpPr>
        <p:spPr>
          <a:xfrm>
            <a:off x="11155680" y="641908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스킬 ② — PRD 리뷰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640080" y="713232"/>
            <a:ext cx="841248" cy="841248"/>
          </a:xfrm>
          <a:prstGeom prst="roundRect">
            <a:avLst>
              <a:gd name="adj" fmla="val 7609"/>
            </a:avLst>
          </a:prstGeom>
          <a:solidFill>
            <a:srgbClr val="2563E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980" y="915132"/>
            <a:ext cx="437449" cy="43744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1640" y="713232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/prd-review
</a:t>
            </a:r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전 품질 게이트 — 루브릭으로 PRD를 점검·보강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11338560" y="749808"/>
            <a:ext cx="566928" cy="566928"/>
          </a:xfrm>
          <a:prstGeom prst="ellipse">
            <a:avLst/>
          </a:prstGeom>
          <a:solidFill>
            <a:srgbClr val="EAF0FC"/>
          </a:solidFill>
          <a:ln/>
        </p:spPr>
      </p:sp>
      <p:sp>
        <p:nvSpPr>
          <p:cNvPr id="7" name="Text 4"/>
          <p:cNvSpPr/>
          <p:nvPr/>
        </p:nvSpPr>
        <p:spPr>
          <a:xfrm>
            <a:off x="11338560" y="7498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40080" y="1783080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8개 항목을 ✅ 통과 / ⚠️ 보강 / ❌ 미흡 으로 판정하고, 구체 수정안을 제시한다.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2240280"/>
            <a:ext cx="5341468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sx="100000" sy="100000" kx="0" ky="0" algn="bl" rotWithShape="0" blurRad="114300" dist="38100" dir="5400000">
              <a:srgbClr val="5B6B86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77824" y="2432304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2542032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81328" y="2350008"/>
            <a:ext cx="35126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 기준이 검증 가능?
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클릭·동작으로 확인되는 체크박스인가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5021428" y="2240280"/>
            <a:ext cx="868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⚠️ ❌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210148" y="2240280"/>
            <a:ext cx="5341468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sx="100000" sy="100000" kx="0" ky="0" algn="bl" rotWithShape="0" blurRad="114300" dist="38100" dir="5400000">
              <a:srgbClr val="5B6B86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47892" y="2432304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7620" y="2542032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051396" y="2350008"/>
            <a:ext cx="35126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비목표가 명시?
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스코프 크리프 차단 경계가 있는가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0591495" y="2240280"/>
            <a:ext cx="868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⚠️ ❌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40080" y="3191256"/>
            <a:ext cx="5341468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sx="100000" sy="100000" kx="0" ky="0" algn="bl" rotWithShape="0" blurRad="114300" dist="38100" dir="5400000">
              <a:srgbClr val="5B6B86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77824" y="338328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3493008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81328" y="3300984"/>
            <a:ext cx="35126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엣지 케이스 표 실질?
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실패·경계 입력이 표로 정리됐는가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5021428" y="3191256"/>
            <a:ext cx="868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⚠️ ❌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6210148" y="3191256"/>
            <a:ext cx="5341468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sx="100000" sy="100000" kx="0" ky="0" algn="bl" rotWithShape="0" blurRad="114300" dist="38100" dir="5400000">
              <a:srgbClr val="5B6B86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447892" y="338328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7620" y="3493008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051396" y="3300984"/>
            <a:ext cx="35126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보안·PII 영향 식별?
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§6 정책 항목에 매핑됐는가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10591495" y="3191256"/>
            <a:ext cx="868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⚠️ ❌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640080" y="4142232"/>
            <a:ext cx="5341468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sx="100000" sy="100000" kx="0" ky="0" algn="bl" rotWithShape="0" blurRad="114300" dist="38100" dir="5400000">
              <a:srgbClr val="5B6B86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77824" y="4334256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7552" y="4443984"/>
            <a:ext cx="237744" cy="23774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481328" y="4251960"/>
            <a:ext cx="35126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마이그레이션 명시?
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컬럼·멱등성·하위호환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5021428" y="4142232"/>
            <a:ext cx="868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⚠️ ❌</a:t>
            </a:r>
            <a:endParaRPr lang="en-US" sz="1300" dirty="0"/>
          </a:p>
        </p:txBody>
      </p:sp>
      <p:sp>
        <p:nvSpPr>
          <p:cNvPr id="34" name="Shape 26"/>
          <p:cNvSpPr/>
          <p:nvPr/>
        </p:nvSpPr>
        <p:spPr>
          <a:xfrm>
            <a:off x="6210148" y="4142232"/>
            <a:ext cx="5341468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sx="100000" sy="100000" kx="0" ky="0" algn="bl" rotWithShape="0" blurRad="114300" dist="38100" dir="5400000">
              <a:srgbClr val="5B6B86">
                <a:alpha val="10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447892" y="4334256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7620" y="4443984"/>
            <a:ext cx="237744" cy="237744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7051396" y="4251960"/>
            <a:ext cx="35126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모바일·안드로이드 영향?
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app/m 라우트·versionCode 고려</a:t>
            </a:r>
            <a:endParaRPr lang="en-US" sz="1350" dirty="0"/>
          </a:p>
        </p:txBody>
      </p:sp>
      <p:sp>
        <p:nvSpPr>
          <p:cNvPr id="38" name="Text 29"/>
          <p:cNvSpPr/>
          <p:nvPr/>
        </p:nvSpPr>
        <p:spPr>
          <a:xfrm>
            <a:off x="10591495" y="4142232"/>
            <a:ext cx="868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⚠️ ❌</a:t>
            </a:r>
            <a:endParaRPr lang="en-US" sz="1300" dirty="0"/>
          </a:p>
        </p:txBody>
      </p:sp>
      <p:sp>
        <p:nvSpPr>
          <p:cNvPr id="39" name="Shape 30"/>
          <p:cNvSpPr/>
          <p:nvPr/>
        </p:nvSpPr>
        <p:spPr>
          <a:xfrm>
            <a:off x="640080" y="5093208"/>
            <a:ext cx="5341468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sx="100000" sy="100000" kx="0" ky="0" algn="bl" rotWithShape="0" blurRad="114300" dist="38100" dir="5400000">
              <a:srgbClr val="5B6B86">
                <a:alpha val="10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877824" y="5285232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7552" y="5394960"/>
            <a:ext cx="237744" cy="237744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1481328" y="5202936"/>
            <a:ext cx="35126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의존성·사전조건?
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env·외부서비스·선행 PRD</a:t>
            </a:r>
            <a:endParaRPr lang="en-US" sz="1350" dirty="0"/>
          </a:p>
        </p:txBody>
      </p:sp>
      <p:sp>
        <p:nvSpPr>
          <p:cNvPr id="43" name="Text 33"/>
          <p:cNvSpPr/>
          <p:nvPr/>
        </p:nvSpPr>
        <p:spPr>
          <a:xfrm>
            <a:off x="5021428" y="5093208"/>
            <a:ext cx="868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⚠️ ❌</a:t>
            </a:r>
            <a:endParaRPr lang="en-US" sz="1300" dirty="0"/>
          </a:p>
        </p:txBody>
      </p:sp>
      <p:sp>
        <p:nvSpPr>
          <p:cNvPr id="44" name="Shape 34"/>
          <p:cNvSpPr/>
          <p:nvPr/>
        </p:nvSpPr>
        <p:spPr>
          <a:xfrm>
            <a:off x="6210148" y="5093208"/>
            <a:ext cx="5341468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sx="100000" sy="100000" kx="0" ky="0" algn="bl" rotWithShape="0" blurRad="114300" dist="38100" dir="5400000">
              <a:srgbClr val="5B6B86">
                <a:alpha val="10000"/>
              </a:srgbClr>
            </a:outerShdw>
          </a:effectLst>
        </p:spPr>
      </p:sp>
      <p:sp>
        <p:nvSpPr>
          <p:cNvPr id="45" name="Shape 35"/>
          <p:cNvSpPr/>
          <p:nvPr/>
        </p:nvSpPr>
        <p:spPr>
          <a:xfrm>
            <a:off x="6447892" y="5285232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57620" y="5394960"/>
            <a:ext cx="237744" cy="237744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7051396" y="5202936"/>
            <a:ext cx="35126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미해결 질문 남았나?
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못 한 항목을 드러냈는가</a:t>
            </a:r>
            <a:endParaRPr lang="en-US" sz="1350" dirty="0"/>
          </a:p>
        </p:txBody>
      </p:sp>
      <p:sp>
        <p:nvSpPr>
          <p:cNvPr id="48" name="Text 37"/>
          <p:cNvSpPr/>
          <p:nvPr/>
        </p:nvSpPr>
        <p:spPr>
          <a:xfrm>
            <a:off x="10591495" y="5093208"/>
            <a:ext cx="868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⚠️ ❌</a:t>
            </a:r>
            <a:endParaRPr lang="en-US" sz="1300" dirty="0"/>
          </a:p>
        </p:txBody>
      </p:sp>
      <p:sp>
        <p:nvSpPr>
          <p:cNvPr id="49" name="Text 38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이랜드리테일 AI 캠퍼스 · PRD 워크플로우 스킬화 제안</a:t>
            </a:r>
            <a:endParaRPr lang="en-US" sz="900" dirty="0"/>
          </a:p>
        </p:txBody>
      </p:sp>
      <p:sp>
        <p:nvSpPr>
          <p:cNvPr id="50" name="Text 39"/>
          <p:cNvSpPr/>
          <p:nvPr/>
        </p:nvSpPr>
        <p:spPr>
          <a:xfrm>
            <a:off x="11155680" y="641908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스킬 ③ — task별 커밋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640080" y="713232"/>
            <a:ext cx="841248" cy="841248"/>
          </a:xfrm>
          <a:prstGeom prst="roundRect">
            <a:avLst>
              <a:gd name="adj" fmla="val 7609"/>
            </a:avLst>
          </a:prstGeom>
          <a:solidFill>
            <a:srgbClr val="2563E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980" y="915132"/>
            <a:ext cx="437449" cy="43744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1640" y="713232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/prd-commit
</a:t>
            </a:r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PRD의 요구사항(F1·F2…)을 원자적 커밋으로 매핑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11338560" y="749808"/>
            <a:ext cx="566928" cy="566928"/>
          </a:xfrm>
          <a:prstGeom prst="ellipse">
            <a:avLst/>
          </a:prstGeom>
          <a:solidFill>
            <a:srgbClr val="EAF0FC"/>
          </a:solidFill>
          <a:ln/>
        </p:spPr>
      </p:sp>
      <p:sp>
        <p:nvSpPr>
          <p:cNvPr id="7" name="Text 4"/>
          <p:cNvSpPr/>
          <p:nvPr/>
        </p:nvSpPr>
        <p:spPr>
          <a:xfrm>
            <a:off x="11338560" y="7498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640080" y="1965960"/>
            <a:ext cx="576072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sx="100000" sy="100000" kx="0" ky="0" algn="bl" rotWithShape="0" blurRad="114300" dist="38100" dir="5400000">
              <a:srgbClr val="5B6B86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32688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동작 단계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914400" y="2779776"/>
            <a:ext cx="402336" cy="40233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27797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836" dirty="0"/>
          </a:p>
        </p:txBody>
      </p:sp>
      <p:sp>
        <p:nvSpPr>
          <p:cNvPr id="12" name="Text 9"/>
          <p:cNvSpPr/>
          <p:nvPr/>
        </p:nvSpPr>
        <p:spPr>
          <a:xfrm>
            <a:off x="1481328" y="2743200"/>
            <a:ext cx="4800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 ↔ 요구사항 매핑
</a:t>
            </a:r>
            <a:pPr indent="0" marL="0">
              <a:buNone/>
            </a:pPr>
            <a:r>
              <a:rPr lang="en-US" sz="108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파일을 F1·F2… 단위로 묶기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914400" y="3438144"/>
            <a:ext cx="402336" cy="40233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" y="3438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836" dirty="0"/>
          </a:p>
        </p:txBody>
      </p:sp>
      <p:sp>
        <p:nvSpPr>
          <p:cNvPr id="15" name="Text 12"/>
          <p:cNvSpPr/>
          <p:nvPr/>
        </p:nvSpPr>
        <p:spPr>
          <a:xfrm>
            <a:off x="1481328" y="3401568"/>
            <a:ext cx="4800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원자적 커밋 분할
</a:t>
            </a:r>
            <a:pPr indent="0" marL="0">
              <a:buNone/>
            </a:pPr>
            <a:r>
              <a:rPr lang="en-US" sz="108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커밋에 무관한 변경 섞지 않기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914400" y="4096512"/>
            <a:ext cx="402336" cy="40233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7" name="Text 14"/>
          <p:cNvSpPr/>
          <p:nvPr/>
        </p:nvSpPr>
        <p:spPr>
          <a:xfrm>
            <a:off x="914400" y="4096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836" dirty="0"/>
          </a:p>
        </p:txBody>
      </p:sp>
      <p:sp>
        <p:nvSpPr>
          <p:cNvPr id="18" name="Text 15"/>
          <p:cNvSpPr/>
          <p:nvPr/>
        </p:nvSpPr>
        <p:spPr>
          <a:xfrm>
            <a:off x="1481328" y="4059936"/>
            <a:ext cx="4800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컨벤션 메시지 생성
</a:t>
            </a:r>
            <a:pPr indent="0" marL="0">
              <a:buNone/>
            </a:pPr>
            <a:r>
              <a:rPr lang="en-US" sz="108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feat(scope)/fix/chore/docs/security + 한글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914400" y="4754880"/>
            <a:ext cx="402336" cy="40233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0" name="Text 17"/>
          <p:cNvSpPr/>
          <p:nvPr/>
        </p:nvSpPr>
        <p:spPr>
          <a:xfrm>
            <a:off x="914400" y="4754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836" dirty="0"/>
          </a:p>
        </p:txBody>
      </p:sp>
      <p:sp>
        <p:nvSpPr>
          <p:cNvPr id="21" name="Text 18"/>
          <p:cNvSpPr/>
          <p:nvPr/>
        </p:nvSpPr>
        <p:spPr>
          <a:xfrm>
            <a:off x="1481328" y="4718304"/>
            <a:ext cx="4800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본문에 PRD 링크
</a:t>
            </a:r>
            <a:pPr indent="0" marL="0">
              <a:buNone/>
            </a:pPr>
            <a:r>
              <a:rPr lang="en-US" sz="108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커밋 ↔ docs/prd 문서 상호 추적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914400" y="5413248"/>
            <a:ext cx="402336" cy="40233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3" name="Text 20"/>
          <p:cNvSpPr/>
          <p:nvPr/>
        </p:nvSpPr>
        <p:spPr>
          <a:xfrm>
            <a:off x="914400" y="5413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836" dirty="0"/>
          </a:p>
        </p:txBody>
      </p:sp>
      <p:sp>
        <p:nvSpPr>
          <p:cNvPr id="24" name="Text 21"/>
          <p:cNvSpPr/>
          <p:nvPr/>
        </p:nvSpPr>
        <p:spPr>
          <a:xfrm>
            <a:off x="1481328" y="5376672"/>
            <a:ext cx="4800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CHANGELOG 자동 갱신
</a:t>
            </a:r>
            <a:pPr indent="0" marL="0">
              <a:buNone/>
            </a:pPr>
            <a:r>
              <a:rPr lang="en-US" sz="108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§3 행 추가 + ‘최종 갱신’ 날짜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6629400" y="1965960"/>
            <a:ext cx="5532120" cy="1828800"/>
          </a:xfrm>
          <a:prstGeom prst="roundRect">
            <a:avLst>
              <a:gd name="adj" fmla="val 4500"/>
            </a:avLst>
          </a:prstGeom>
          <a:solidFill>
            <a:srgbClr val="0F1E46"/>
          </a:solidFill>
          <a:ln w="12700">
            <a:solidFill>
              <a:srgbClr val="0F1E46"/>
            </a:solidFill>
            <a:prstDash val="solid"/>
          </a:ln>
          <a:effectLst>
            <a:outerShdw sx="100000" sy="100000" kx="0" ky="0" algn="bl" rotWithShape="0" blurRad="114300" dist="38100" dir="5400000">
              <a:srgbClr val="5B6B86">
                <a:alpha val="10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6903720" y="2148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DB4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 — 생성 커밋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6903720" y="2514600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8BE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feat(video): 스테이지 인라인 이미지 라이트박스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어드민 업로드/삭제 + 사용자 펼침 시 인라인 그리드.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PRD: docs/prd/2026-05-30-stage-inline-images.md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6629400" y="3931920"/>
            <a:ext cx="5532120" cy="2148840"/>
          </a:xfrm>
          <a:prstGeom prst="roundRect">
            <a:avLst>
              <a:gd name="adj" fmla="val 3830"/>
            </a:avLst>
          </a:prstGeom>
          <a:solidFill>
            <a:srgbClr val="F5F8FE"/>
          </a:solidFill>
          <a:ln w="12700">
            <a:solidFill>
              <a:srgbClr val="D7E3FA"/>
            </a:solidFill>
            <a:prstDash val="solid"/>
          </a:ln>
          <a:effectLst>
            <a:outerShdw sx="100000" sy="100000" kx="0" ky="0" algn="bl" rotWithShape="0" blurRad="114300" dist="38100" dir="5400000">
              <a:srgbClr val="5B6B86">
                <a:alpha val="10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6903720" y="40873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커밋 타입 컨벤션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6903720" y="4480560"/>
            <a:ext cx="1051560" cy="365760"/>
          </a:xfrm>
          <a:prstGeom prst="roundRect">
            <a:avLst>
              <a:gd name="adj" fmla="val 15000"/>
            </a:avLst>
          </a:prstGeom>
          <a:solidFill>
            <a:srgbClr val="15A34A"/>
          </a:solidFill>
          <a:ln/>
        </p:spPr>
      </p:sp>
      <p:sp>
        <p:nvSpPr>
          <p:cNvPr id="31" name="Text 28"/>
          <p:cNvSpPr/>
          <p:nvPr/>
        </p:nvSpPr>
        <p:spPr>
          <a:xfrm>
            <a:off x="6903720" y="448056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8046720" y="4480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기능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9509760" y="4480560"/>
            <a:ext cx="1051560" cy="365760"/>
          </a:xfrm>
          <a:prstGeom prst="roundRect">
            <a:avLst>
              <a:gd name="adj" fmla="val 15000"/>
            </a:avLst>
          </a:prstGeom>
          <a:solidFill>
            <a:srgbClr val="2563EB"/>
          </a:solidFill>
          <a:ln/>
        </p:spPr>
      </p:sp>
      <p:sp>
        <p:nvSpPr>
          <p:cNvPr id="34" name="Text 31"/>
          <p:cNvSpPr/>
          <p:nvPr/>
        </p:nvSpPr>
        <p:spPr>
          <a:xfrm>
            <a:off x="9509760" y="448056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10652760" y="4480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버그 수정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903720" y="4956048"/>
            <a:ext cx="1051560" cy="365760"/>
          </a:xfrm>
          <a:prstGeom prst="roundRect">
            <a:avLst>
              <a:gd name="adj" fmla="val 15000"/>
            </a:avLst>
          </a:prstGeom>
          <a:solidFill>
            <a:srgbClr val="F97316"/>
          </a:solidFill>
          <a:ln/>
        </p:spPr>
      </p:sp>
      <p:sp>
        <p:nvSpPr>
          <p:cNvPr id="37" name="Text 34"/>
          <p:cNvSpPr/>
          <p:nvPr/>
        </p:nvSpPr>
        <p:spPr>
          <a:xfrm>
            <a:off x="6903720" y="495604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8046720" y="49560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강화</a:t>
            </a:r>
            <a:endParaRPr lang="en-US" sz="1150" dirty="0"/>
          </a:p>
        </p:txBody>
      </p:sp>
      <p:sp>
        <p:nvSpPr>
          <p:cNvPr id="39" name="Shape 36"/>
          <p:cNvSpPr/>
          <p:nvPr/>
        </p:nvSpPr>
        <p:spPr>
          <a:xfrm>
            <a:off x="9509760" y="4956048"/>
            <a:ext cx="1051560" cy="365760"/>
          </a:xfrm>
          <a:prstGeom prst="roundRect">
            <a:avLst>
              <a:gd name="adj" fmla="val 15000"/>
            </a:avLst>
          </a:prstGeom>
          <a:solidFill>
            <a:srgbClr val="6B7280"/>
          </a:solidFill>
          <a:ln/>
        </p:spPr>
      </p:sp>
      <p:sp>
        <p:nvSpPr>
          <p:cNvPr id="40" name="Text 37"/>
          <p:cNvSpPr/>
          <p:nvPr/>
        </p:nvSpPr>
        <p:spPr>
          <a:xfrm>
            <a:off x="9509760" y="495604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chore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10652760" y="49560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빌드·설정</a:t>
            </a:r>
            <a:endParaRPr lang="en-US" sz="1150" dirty="0"/>
          </a:p>
        </p:txBody>
      </p:sp>
      <p:sp>
        <p:nvSpPr>
          <p:cNvPr id="42" name="Shape 39"/>
          <p:cNvSpPr/>
          <p:nvPr/>
        </p:nvSpPr>
        <p:spPr>
          <a:xfrm>
            <a:off x="6903720" y="5431536"/>
            <a:ext cx="1051560" cy="365760"/>
          </a:xfrm>
          <a:prstGeom prst="roundRect">
            <a:avLst>
              <a:gd name="adj" fmla="val 15000"/>
            </a:avLst>
          </a:prstGeom>
          <a:solidFill>
            <a:srgbClr val="26407A"/>
          </a:solidFill>
          <a:ln/>
        </p:spPr>
      </p:sp>
      <p:sp>
        <p:nvSpPr>
          <p:cNvPr id="43" name="Text 40"/>
          <p:cNvSpPr/>
          <p:nvPr/>
        </p:nvSpPr>
        <p:spPr>
          <a:xfrm>
            <a:off x="6903720" y="543153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8046720" y="543153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9509760" y="5431536"/>
            <a:ext cx="1051560" cy="365760"/>
          </a:xfrm>
          <a:prstGeom prst="roundRect">
            <a:avLst>
              <a:gd name="adj" fmla="val 15000"/>
            </a:avLst>
          </a:prstGeom>
          <a:solidFill>
            <a:srgbClr val="7C3AED"/>
          </a:solidFill>
          <a:ln/>
        </p:spPr>
      </p:sp>
      <p:sp>
        <p:nvSpPr>
          <p:cNvPr id="46" name="Text 43"/>
          <p:cNvSpPr/>
          <p:nvPr/>
        </p:nvSpPr>
        <p:spPr>
          <a:xfrm>
            <a:off x="9509760" y="543153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refactor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10652760" y="543153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 개선</a:t>
            </a:r>
            <a:endParaRPr lang="en-US" sz="1150" dirty="0"/>
          </a:p>
        </p:txBody>
      </p:sp>
      <p:sp>
        <p:nvSpPr>
          <p:cNvPr id="48" name="Text 45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이랜드리테일 AI 캠퍼스 · PRD 워크플로우 스킬화 제안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11155680" y="641908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C27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스킬 ④ — 푸시 전 보안검토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640080" y="713232"/>
            <a:ext cx="841248" cy="841248"/>
          </a:xfrm>
          <a:prstGeom prst="roundRect">
            <a:avLst>
              <a:gd name="adj" fmla="val 7609"/>
            </a:avLst>
          </a:prstGeom>
          <a:solidFill>
            <a:srgbClr val="F9731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980" y="915132"/>
            <a:ext cx="437449" cy="43744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1640" y="713232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/security-gate
</a:t>
            </a:r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시크릿·PII·정책 위반을 푸시 직전 마지막으로 차단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11338560" y="749808"/>
            <a:ext cx="566928" cy="566928"/>
          </a:xfrm>
          <a:prstGeom prst="ellipse">
            <a:avLst/>
          </a:prstGeom>
          <a:solidFill>
            <a:srgbClr val="FFEAD6"/>
          </a:solidFill>
          <a:ln/>
        </p:spPr>
      </p:sp>
      <p:sp>
        <p:nvSpPr>
          <p:cNvPr id="7" name="Text 4"/>
          <p:cNvSpPr/>
          <p:nvPr/>
        </p:nvSpPr>
        <p:spPr>
          <a:xfrm>
            <a:off x="11338560" y="7498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27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640080" y="2011680"/>
            <a:ext cx="5341468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sx="100000" sy="100000" kx="0" ky="0" algn="bl" rotWithShape="0" blurRad="114300" dist="38100" dir="5400000">
              <a:srgbClr val="5B6B86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2011680"/>
            <a:ext cx="91440" cy="932688"/>
          </a:xfrm>
          <a:prstGeom prst="roundRect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914400" y="2258568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2368296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2130552"/>
            <a:ext cx="42441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시크릿 스캔 (확장)
</a:t>
            </a:r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gitleaks를 푸시 ‘범위 전체’로 재검사 (훅은 스테이지만)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10148" y="2011680"/>
            <a:ext cx="5341468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sx="100000" sy="100000" kx="0" ky="0" algn="bl" rotWithShape="0" blurRad="114300" dist="38100" dir="5400000">
              <a:srgbClr val="5B6B86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210148" y="2011680"/>
            <a:ext cx="91440" cy="932688"/>
          </a:xfrm>
          <a:prstGeom prst="roundRect">
            <a:avLst/>
          </a:prstGeom>
          <a:solidFill>
            <a:srgbClr val="F97316"/>
          </a:solidFill>
          <a:ln/>
        </p:spPr>
      </p:sp>
      <p:sp>
        <p:nvSpPr>
          <p:cNvPr id="15" name="Shape 11"/>
          <p:cNvSpPr/>
          <p:nvPr/>
        </p:nvSpPr>
        <p:spPr>
          <a:xfrm>
            <a:off x="6484468" y="2258568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4196" y="2368296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078828" y="2130552"/>
            <a:ext cx="42441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PII·실명·기본비번 패턴
</a:t>
            </a:r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이메일·실명·약한 기본값이 diff에 섞였나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640080" y="3072384"/>
            <a:ext cx="5341468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sx="100000" sy="100000" kx="0" ky="0" algn="bl" rotWithShape="0" blurRad="114300" dist="38100" dir="5400000">
              <a:srgbClr val="5B6B86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40080" y="3072384"/>
            <a:ext cx="91440" cy="932688"/>
          </a:xfrm>
          <a:prstGeom prst="roundRect">
            <a:avLst/>
          </a:prstGeom>
          <a:solidFill>
            <a:srgbClr val="F97316"/>
          </a:solidFill>
          <a:ln/>
        </p:spPr>
      </p:sp>
      <p:sp>
        <p:nvSpPr>
          <p:cNvPr id="20" name="Shape 15"/>
          <p:cNvSpPr/>
          <p:nvPr/>
        </p:nvSpPr>
        <p:spPr>
          <a:xfrm>
            <a:off x="914400" y="3319272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3429000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3191256"/>
            <a:ext cx="42441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§6 보안정책 매핑
</a:t>
            </a:r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API에 인증·권한·레이트리밋·PII 응답제외·에러통일</a:t>
            </a:r>
            <a:endParaRPr lang="en-US" sz="1350" dirty="0"/>
          </a:p>
        </p:txBody>
      </p:sp>
      <p:sp>
        <p:nvSpPr>
          <p:cNvPr id="23" name="Shape 17"/>
          <p:cNvSpPr/>
          <p:nvPr/>
        </p:nvSpPr>
        <p:spPr>
          <a:xfrm>
            <a:off x="6210148" y="3072384"/>
            <a:ext cx="5341468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sx="100000" sy="100000" kx="0" ky="0" algn="bl" rotWithShape="0" blurRad="114300" dist="38100" dir="5400000">
              <a:srgbClr val="5B6B86">
                <a:alpha val="1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6210148" y="3072384"/>
            <a:ext cx="91440" cy="932688"/>
          </a:xfrm>
          <a:prstGeom prst="roundRect">
            <a:avLst/>
          </a:prstGeom>
          <a:solidFill>
            <a:srgbClr val="F97316"/>
          </a:solidFill>
          <a:ln/>
        </p:spPr>
      </p:sp>
      <p:sp>
        <p:nvSpPr>
          <p:cNvPr id="25" name="Shape 19"/>
          <p:cNvSpPr/>
          <p:nvPr/>
        </p:nvSpPr>
        <p:spPr>
          <a:xfrm>
            <a:off x="6484468" y="3319272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4196" y="3429000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078828" y="3191256"/>
            <a:ext cx="42441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enumeration 방지
</a:t>
            </a:r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가입·재설정 응답이 회원 존재와 무관히 동일한가</a:t>
            </a:r>
            <a:endParaRPr lang="en-US" sz="1350" dirty="0"/>
          </a:p>
        </p:txBody>
      </p:sp>
      <p:sp>
        <p:nvSpPr>
          <p:cNvPr id="28" name="Shape 21"/>
          <p:cNvSpPr/>
          <p:nvPr/>
        </p:nvSpPr>
        <p:spPr>
          <a:xfrm>
            <a:off x="640080" y="4133088"/>
            <a:ext cx="5341468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sx="100000" sy="100000" kx="0" ky="0" algn="bl" rotWithShape="0" blurRad="114300" dist="38100" dir="5400000">
              <a:srgbClr val="5B6B86">
                <a:alpha val="10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40080" y="4133088"/>
            <a:ext cx="91440" cy="932688"/>
          </a:xfrm>
          <a:prstGeom prst="roundRect">
            <a:avLst/>
          </a:prstGeom>
          <a:solidFill>
            <a:srgbClr val="F97316"/>
          </a:solidFill>
          <a:ln/>
        </p:spPr>
      </p:sp>
      <p:sp>
        <p:nvSpPr>
          <p:cNvPr id="30" name="Shape 23"/>
          <p:cNvSpPr/>
          <p:nvPr/>
        </p:nvSpPr>
        <p:spPr>
          <a:xfrm>
            <a:off x="914400" y="4379976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128" y="4489704"/>
            <a:ext cx="237744" cy="23774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508760" y="4251960"/>
            <a:ext cx="42441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디버그 잔재
</a:t>
            </a:r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console.log·raw 에러 노출·임시 라우트 제거</a:t>
            </a:r>
            <a:endParaRPr lang="en-US" sz="1350" dirty="0"/>
          </a:p>
        </p:txBody>
      </p:sp>
      <p:sp>
        <p:nvSpPr>
          <p:cNvPr id="33" name="Shape 25"/>
          <p:cNvSpPr/>
          <p:nvPr/>
        </p:nvSpPr>
        <p:spPr>
          <a:xfrm>
            <a:off x="6210148" y="4133088"/>
            <a:ext cx="5341468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sx="100000" sy="100000" kx="0" ky="0" algn="bl" rotWithShape="0" blurRad="114300" dist="38100" dir="5400000">
              <a:srgbClr val="5B6B86">
                <a:alpha val="10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6210148" y="4133088"/>
            <a:ext cx="91440" cy="932688"/>
          </a:xfrm>
          <a:prstGeom prst="roundRect">
            <a:avLst/>
          </a:prstGeom>
          <a:solidFill>
            <a:srgbClr val="F97316"/>
          </a:solidFill>
          <a:ln/>
        </p:spPr>
      </p:sp>
      <p:sp>
        <p:nvSpPr>
          <p:cNvPr id="35" name="Shape 27"/>
          <p:cNvSpPr/>
          <p:nvPr/>
        </p:nvSpPr>
        <p:spPr>
          <a:xfrm>
            <a:off x="6484468" y="4379976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4196" y="4489704"/>
            <a:ext cx="237744" cy="237744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7078828" y="4251960"/>
            <a:ext cx="42441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env 동기화
</a:t>
            </a:r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변수 → .env.local.example + gitleaks allowlist</a:t>
            </a:r>
            <a:endParaRPr lang="en-US" sz="1350" dirty="0"/>
          </a:p>
        </p:txBody>
      </p:sp>
      <p:sp>
        <p:nvSpPr>
          <p:cNvPr id="38" name="Shape 29"/>
          <p:cNvSpPr/>
          <p:nvPr/>
        </p:nvSpPr>
        <p:spPr>
          <a:xfrm>
            <a:off x="640080" y="5212080"/>
            <a:ext cx="10911535" cy="868680"/>
          </a:xfrm>
          <a:prstGeom prst="roundRect">
            <a:avLst>
              <a:gd name="adj" fmla="val 8421"/>
            </a:avLst>
          </a:prstGeom>
          <a:solidFill>
            <a:srgbClr val="0F1E46"/>
          </a:solidFill>
          <a:ln/>
        </p:spPr>
      </p:sp>
      <p:sp>
        <p:nvSpPr>
          <p:cNvPr id="39" name="Shape 30"/>
          <p:cNvSpPr/>
          <p:nvPr/>
        </p:nvSpPr>
        <p:spPr>
          <a:xfrm>
            <a:off x="914400" y="5376672"/>
            <a:ext cx="530352" cy="530352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1684" y="5503956"/>
            <a:ext cx="275783" cy="275783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1600200" y="5212080"/>
            <a:ext cx="97228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 / 차단 판정 + 발견 항목의 위치(file:line) + 권고 조치.  </a:t>
            </a:r>
            <a:pPr indent="0" marL="0">
              <a:buNone/>
            </a:pPr>
            <a:r>
              <a:rPr lang="en-US" sz="1250" b="1" dirty="0">
                <a:solidFill>
                  <a:srgbClr val="FFD9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차단이면 /ship 진행 불가 — 푸시 전 강제 게이트.</a:t>
            </a:r>
            <a:endParaRPr lang="en-US" sz="1300" dirty="0"/>
          </a:p>
        </p:txBody>
      </p:sp>
      <p:sp>
        <p:nvSpPr>
          <p:cNvPr id="42" name="Text 32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이랜드리테일 AI 캠퍼스 · PRD 워크플로우 스킬화 제안</a:t>
            </a:r>
            <a:endParaRPr lang="en-US" sz="900" dirty="0"/>
          </a:p>
        </p:txBody>
      </p:sp>
      <p:sp>
        <p:nvSpPr>
          <p:cNvPr id="43" name="Text 33"/>
          <p:cNvSpPr/>
          <p:nvPr/>
        </p:nvSpPr>
        <p:spPr>
          <a:xfrm>
            <a:off x="11155680" y="641908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5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스킬 ⑤ — 구현 완료 후 푸시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640080" y="713232"/>
            <a:ext cx="841248" cy="841248"/>
          </a:xfrm>
          <a:prstGeom prst="roundRect">
            <a:avLst>
              <a:gd name="adj" fmla="val 7609"/>
            </a:avLst>
          </a:prstGeom>
          <a:solidFill>
            <a:srgbClr val="15A34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980" y="915132"/>
            <a:ext cx="437449" cy="43744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1640" y="713232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/ship
</a:t>
            </a:r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 체인을 통과해야만 main에 푸시 → 배포 검증까지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11338560" y="749808"/>
            <a:ext cx="566928" cy="566928"/>
          </a:xfrm>
          <a:prstGeom prst="ellipse">
            <a:avLst/>
          </a:prstGeom>
          <a:solidFill>
            <a:srgbClr val="EAF0FC"/>
          </a:solidFill>
          <a:ln/>
        </p:spPr>
      </p:sp>
      <p:sp>
        <p:nvSpPr>
          <p:cNvPr id="7" name="Text 4"/>
          <p:cNvSpPr/>
          <p:nvPr/>
        </p:nvSpPr>
        <p:spPr>
          <a:xfrm>
            <a:off x="11338560" y="7498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640080" y="2011680"/>
            <a:ext cx="10911535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1248" y="2103120"/>
            <a:ext cx="365760" cy="365760"/>
          </a:xfrm>
          <a:prstGeom prst="ellipse">
            <a:avLst/>
          </a:prstGeom>
          <a:solidFill>
            <a:srgbClr val="15A34A"/>
          </a:solidFill>
          <a:ln/>
        </p:spPr>
      </p:sp>
      <p:sp>
        <p:nvSpPr>
          <p:cNvPr id="10" name="Text 7"/>
          <p:cNvSpPr/>
          <p:nvPr/>
        </p:nvSpPr>
        <p:spPr>
          <a:xfrm>
            <a:off x="841248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760" dirty="0"/>
          </a:p>
        </p:txBody>
      </p:sp>
      <p:sp>
        <p:nvSpPr>
          <p:cNvPr id="11" name="Shape 8"/>
          <p:cNvSpPr/>
          <p:nvPr/>
        </p:nvSpPr>
        <p:spPr>
          <a:xfrm>
            <a:off x="1389888" y="2121408"/>
            <a:ext cx="329184" cy="329184"/>
          </a:xfrm>
          <a:prstGeom prst="ellipse">
            <a:avLst/>
          </a:prstGeom>
          <a:solidFill>
            <a:srgbClr val="15A34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8892" y="2200412"/>
            <a:ext cx="171176" cy="17117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883664" y="2011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빌드 게이트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937760" y="2011680"/>
            <a:ext cx="6430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tsc --noEmit + next build 통과 (실패 시 중단)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886968" y="2542032"/>
            <a:ext cx="27432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7C4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700" dirty="0"/>
          </a:p>
        </p:txBody>
      </p:sp>
      <p:sp>
        <p:nvSpPr>
          <p:cNvPr id="16" name="Shape 12"/>
          <p:cNvSpPr/>
          <p:nvPr/>
        </p:nvSpPr>
        <p:spPr>
          <a:xfrm>
            <a:off x="640080" y="2628900"/>
            <a:ext cx="10911535" cy="548640"/>
          </a:xfrm>
          <a:prstGeom prst="roundRect">
            <a:avLst>
              <a:gd name="adj" fmla="val 15000"/>
            </a:avLst>
          </a:prstGeom>
          <a:solidFill>
            <a:srgbClr val="F5F8FE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41248" y="2720340"/>
            <a:ext cx="365760" cy="3657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8" name="Text 14"/>
          <p:cNvSpPr/>
          <p:nvPr/>
        </p:nvSpPr>
        <p:spPr>
          <a:xfrm>
            <a:off x="841248" y="27203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760" dirty="0"/>
          </a:p>
        </p:txBody>
      </p:sp>
      <p:sp>
        <p:nvSpPr>
          <p:cNvPr id="19" name="Shape 15"/>
          <p:cNvSpPr/>
          <p:nvPr/>
        </p:nvSpPr>
        <p:spPr>
          <a:xfrm>
            <a:off x="1389888" y="2738628"/>
            <a:ext cx="329184" cy="329184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8892" y="2817632"/>
            <a:ext cx="171176" cy="17117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883664" y="26289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게이트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4937760" y="2628900"/>
            <a:ext cx="6430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/security-gate 호출 — 차단이면 즉시 중단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886968" y="3159252"/>
            <a:ext cx="27432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7C4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700" dirty="0"/>
          </a:p>
        </p:txBody>
      </p:sp>
      <p:sp>
        <p:nvSpPr>
          <p:cNvPr id="24" name="Shape 19"/>
          <p:cNvSpPr/>
          <p:nvPr/>
        </p:nvSpPr>
        <p:spPr>
          <a:xfrm>
            <a:off x="640080" y="3246120"/>
            <a:ext cx="10911535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841248" y="333756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6" name="Text 21"/>
          <p:cNvSpPr/>
          <p:nvPr/>
        </p:nvSpPr>
        <p:spPr>
          <a:xfrm>
            <a:off x="841248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760" dirty="0"/>
          </a:p>
        </p:txBody>
      </p:sp>
      <p:sp>
        <p:nvSpPr>
          <p:cNvPr id="27" name="Shape 22"/>
          <p:cNvSpPr/>
          <p:nvPr/>
        </p:nvSpPr>
        <p:spPr>
          <a:xfrm>
            <a:off x="1389888" y="335584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8892" y="3434852"/>
            <a:ext cx="171176" cy="171176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883664" y="32461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성공기준 스모크(선택)</a:t>
            </a:r>
            <a:endParaRPr lang="en-US" sz="1350" dirty="0"/>
          </a:p>
        </p:txBody>
      </p:sp>
      <p:sp>
        <p:nvSpPr>
          <p:cNvPr id="30" name="Text 24"/>
          <p:cNvSpPr/>
          <p:nvPr/>
        </p:nvSpPr>
        <p:spPr>
          <a:xfrm>
            <a:off x="4937760" y="3246120"/>
            <a:ext cx="6430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PRD 체크박스를 프리뷰·실행으로 빠르게 확인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886968" y="3776472"/>
            <a:ext cx="27432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7C4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700" dirty="0"/>
          </a:p>
        </p:txBody>
      </p:sp>
      <p:sp>
        <p:nvSpPr>
          <p:cNvPr id="32" name="Shape 26"/>
          <p:cNvSpPr/>
          <p:nvPr/>
        </p:nvSpPr>
        <p:spPr>
          <a:xfrm>
            <a:off x="640080" y="3863340"/>
            <a:ext cx="10911535" cy="548640"/>
          </a:xfrm>
          <a:prstGeom prst="roundRect">
            <a:avLst>
              <a:gd name="adj" fmla="val 15000"/>
            </a:avLst>
          </a:prstGeom>
          <a:solidFill>
            <a:srgbClr val="F5F8FE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841248" y="3954780"/>
            <a:ext cx="365760" cy="365760"/>
          </a:xfrm>
          <a:prstGeom prst="ellipse">
            <a:avLst/>
          </a:prstGeom>
          <a:solidFill>
            <a:srgbClr val="26407A"/>
          </a:solidFill>
          <a:ln/>
        </p:spPr>
      </p:sp>
      <p:sp>
        <p:nvSpPr>
          <p:cNvPr id="34" name="Text 28"/>
          <p:cNvSpPr/>
          <p:nvPr/>
        </p:nvSpPr>
        <p:spPr>
          <a:xfrm>
            <a:off x="841248" y="39547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760" dirty="0"/>
          </a:p>
        </p:txBody>
      </p:sp>
      <p:sp>
        <p:nvSpPr>
          <p:cNvPr id="35" name="Shape 29"/>
          <p:cNvSpPr/>
          <p:nvPr/>
        </p:nvSpPr>
        <p:spPr>
          <a:xfrm>
            <a:off x="1389888" y="3973068"/>
            <a:ext cx="329184" cy="329184"/>
          </a:xfrm>
          <a:prstGeom prst="ellipse">
            <a:avLst/>
          </a:prstGeom>
          <a:solidFill>
            <a:srgbClr val="26407A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8892" y="4052072"/>
            <a:ext cx="171176" cy="171176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1883664" y="38633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리빙 독스 갱신</a:t>
            </a:r>
            <a:endParaRPr lang="en-US" sz="1350" dirty="0"/>
          </a:p>
        </p:txBody>
      </p:sp>
      <p:sp>
        <p:nvSpPr>
          <p:cNvPr id="38" name="Text 31"/>
          <p:cNvSpPr/>
          <p:nvPr/>
        </p:nvSpPr>
        <p:spPr>
          <a:xfrm>
            <a:off x="4937760" y="3863340"/>
            <a:ext cx="6430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CHANGELOG · CURRENT-STATE · PROJECT_HISTORY</a:t>
            </a:r>
            <a:endParaRPr lang="en-US" sz="1200" dirty="0"/>
          </a:p>
        </p:txBody>
      </p:sp>
      <p:sp>
        <p:nvSpPr>
          <p:cNvPr id="39" name="Text 32"/>
          <p:cNvSpPr/>
          <p:nvPr/>
        </p:nvSpPr>
        <p:spPr>
          <a:xfrm>
            <a:off x="886968" y="4393692"/>
            <a:ext cx="27432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7C4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700" dirty="0"/>
          </a:p>
        </p:txBody>
      </p:sp>
      <p:sp>
        <p:nvSpPr>
          <p:cNvPr id="40" name="Shape 33"/>
          <p:cNvSpPr/>
          <p:nvPr/>
        </p:nvSpPr>
        <p:spPr>
          <a:xfrm>
            <a:off x="640080" y="4480560"/>
            <a:ext cx="10911535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841248" y="457200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2" name="Text 35"/>
          <p:cNvSpPr/>
          <p:nvPr/>
        </p:nvSpPr>
        <p:spPr>
          <a:xfrm>
            <a:off x="841248" y="4572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760" dirty="0"/>
          </a:p>
        </p:txBody>
      </p:sp>
      <p:sp>
        <p:nvSpPr>
          <p:cNvPr id="43" name="Shape 36"/>
          <p:cNvSpPr/>
          <p:nvPr/>
        </p:nvSpPr>
        <p:spPr>
          <a:xfrm>
            <a:off x="1389888" y="459028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4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8892" y="4669292"/>
            <a:ext cx="171176" cy="171176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1883664" y="44805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마이그레이션 리마인드</a:t>
            </a:r>
            <a:endParaRPr lang="en-US" sz="1350" dirty="0"/>
          </a:p>
        </p:txBody>
      </p:sp>
      <p:sp>
        <p:nvSpPr>
          <p:cNvPr id="46" name="Text 38"/>
          <p:cNvSpPr/>
          <p:nvPr/>
        </p:nvSpPr>
        <p:spPr>
          <a:xfrm>
            <a:off x="4937760" y="4480560"/>
            <a:ext cx="6430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컬럼 → POST /api/admin/migrate (멱등 1회)</a:t>
            </a:r>
            <a:endParaRPr lang="en-US" sz="1200" dirty="0"/>
          </a:p>
        </p:txBody>
      </p:sp>
      <p:sp>
        <p:nvSpPr>
          <p:cNvPr id="47" name="Text 39"/>
          <p:cNvSpPr/>
          <p:nvPr/>
        </p:nvSpPr>
        <p:spPr>
          <a:xfrm>
            <a:off x="886968" y="5010912"/>
            <a:ext cx="27432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7C4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700" dirty="0"/>
          </a:p>
        </p:txBody>
      </p:sp>
      <p:sp>
        <p:nvSpPr>
          <p:cNvPr id="48" name="Shape 40"/>
          <p:cNvSpPr/>
          <p:nvPr/>
        </p:nvSpPr>
        <p:spPr>
          <a:xfrm>
            <a:off x="640080" y="5097780"/>
            <a:ext cx="10911535" cy="548640"/>
          </a:xfrm>
          <a:prstGeom prst="roundRect">
            <a:avLst>
              <a:gd name="adj" fmla="val 15000"/>
            </a:avLst>
          </a:prstGeom>
          <a:solidFill>
            <a:srgbClr val="F5F8FE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49" name="Shape 41"/>
          <p:cNvSpPr/>
          <p:nvPr/>
        </p:nvSpPr>
        <p:spPr>
          <a:xfrm>
            <a:off x="841248" y="5189220"/>
            <a:ext cx="365760" cy="365760"/>
          </a:xfrm>
          <a:prstGeom prst="ellipse">
            <a:avLst/>
          </a:prstGeom>
          <a:solidFill>
            <a:srgbClr val="15A34A"/>
          </a:solidFill>
          <a:ln/>
        </p:spPr>
      </p:sp>
      <p:sp>
        <p:nvSpPr>
          <p:cNvPr id="50" name="Text 42"/>
          <p:cNvSpPr/>
          <p:nvPr/>
        </p:nvSpPr>
        <p:spPr>
          <a:xfrm>
            <a:off x="841248" y="51892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760" dirty="0"/>
          </a:p>
        </p:txBody>
      </p:sp>
      <p:sp>
        <p:nvSpPr>
          <p:cNvPr id="51" name="Shape 43"/>
          <p:cNvSpPr/>
          <p:nvPr/>
        </p:nvSpPr>
        <p:spPr>
          <a:xfrm>
            <a:off x="1389888" y="5207508"/>
            <a:ext cx="329184" cy="329184"/>
          </a:xfrm>
          <a:prstGeom prst="ellipse">
            <a:avLst/>
          </a:prstGeom>
          <a:solidFill>
            <a:srgbClr val="15A34A"/>
          </a:solidFill>
          <a:ln/>
        </p:spPr>
      </p:sp>
      <p:pic>
        <p:nvPicPr>
          <p:cNvPr id="5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8892" y="5286512"/>
            <a:ext cx="171176" cy="171176"/>
          </a:xfrm>
          <a:prstGeom prst="rect">
            <a:avLst/>
          </a:prstGeom>
        </p:spPr>
      </p:pic>
      <p:sp>
        <p:nvSpPr>
          <p:cNvPr id="53" name="Text 44"/>
          <p:cNvSpPr/>
          <p:nvPr/>
        </p:nvSpPr>
        <p:spPr>
          <a:xfrm>
            <a:off x="1883664" y="50977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커밋 → main 푸시</a:t>
            </a:r>
            <a:endParaRPr lang="en-US" sz="1350" dirty="0"/>
          </a:p>
        </p:txBody>
      </p:sp>
      <p:sp>
        <p:nvSpPr>
          <p:cNvPr id="54" name="Text 45"/>
          <p:cNvSpPr/>
          <p:nvPr/>
        </p:nvSpPr>
        <p:spPr>
          <a:xfrm>
            <a:off x="4937760" y="5097780"/>
            <a:ext cx="6430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시 /prd-commit 선행 후 push</a:t>
            </a:r>
            <a:endParaRPr lang="en-US" sz="1200" dirty="0"/>
          </a:p>
        </p:txBody>
      </p:sp>
      <p:sp>
        <p:nvSpPr>
          <p:cNvPr id="55" name="Text 46"/>
          <p:cNvSpPr/>
          <p:nvPr/>
        </p:nvSpPr>
        <p:spPr>
          <a:xfrm>
            <a:off x="886968" y="5628132"/>
            <a:ext cx="27432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7C4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700" dirty="0"/>
          </a:p>
        </p:txBody>
      </p:sp>
      <p:sp>
        <p:nvSpPr>
          <p:cNvPr id="56" name="Shape 47"/>
          <p:cNvSpPr/>
          <p:nvPr/>
        </p:nvSpPr>
        <p:spPr>
          <a:xfrm>
            <a:off x="640080" y="5715000"/>
            <a:ext cx="10911535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57" name="Shape 48"/>
          <p:cNvSpPr/>
          <p:nvPr/>
        </p:nvSpPr>
        <p:spPr>
          <a:xfrm>
            <a:off x="841248" y="5806440"/>
            <a:ext cx="365760" cy="365760"/>
          </a:xfrm>
          <a:prstGeom prst="ellipse">
            <a:avLst/>
          </a:prstGeom>
          <a:solidFill>
            <a:srgbClr val="0EA5A0"/>
          </a:solidFill>
          <a:ln/>
        </p:spPr>
      </p:sp>
      <p:sp>
        <p:nvSpPr>
          <p:cNvPr id="58" name="Text 49"/>
          <p:cNvSpPr/>
          <p:nvPr/>
        </p:nvSpPr>
        <p:spPr>
          <a:xfrm>
            <a:off x="841248" y="5806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760" dirty="0"/>
          </a:p>
        </p:txBody>
      </p:sp>
      <p:sp>
        <p:nvSpPr>
          <p:cNvPr id="59" name="Shape 50"/>
          <p:cNvSpPr/>
          <p:nvPr/>
        </p:nvSpPr>
        <p:spPr>
          <a:xfrm>
            <a:off x="1389888" y="5824728"/>
            <a:ext cx="329184" cy="329184"/>
          </a:xfrm>
          <a:prstGeom prst="ellipse">
            <a:avLst/>
          </a:prstGeom>
          <a:solidFill>
            <a:srgbClr val="0EA5A0"/>
          </a:solidFill>
          <a:ln/>
        </p:spPr>
      </p:sp>
      <p:pic>
        <p:nvPicPr>
          <p:cNvPr id="6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68892" y="5903732"/>
            <a:ext cx="171176" cy="171176"/>
          </a:xfrm>
          <a:prstGeom prst="rect">
            <a:avLst/>
          </a:prstGeom>
        </p:spPr>
      </p:pic>
      <p:sp>
        <p:nvSpPr>
          <p:cNvPr id="61" name="Text 51"/>
          <p:cNvSpPr/>
          <p:nvPr/>
        </p:nvSpPr>
        <p:spPr>
          <a:xfrm>
            <a:off x="1883664" y="57150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검증</a:t>
            </a:r>
            <a:endParaRPr lang="en-US" sz="1350" dirty="0"/>
          </a:p>
        </p:txBody>
      </p:sp>
      <p:sp>
        <p:nvSpPr>
          <p:cNvPr id="62" name="Text 52"/>
          <p:cNvSpPr/>
          <p:nvPr/>
        </p:nvSpPr>
        <p:spPr>
          <a:xfrm>
            <a:off x="4937760" y="5715000"/>
            <a:ext cx="6430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Vercel 배포 확인 · env 변경 시 Redeploy · 안드 versionCode</a:t>
            </a:r>
            <a:endParaRPr lang="en-US" sz="1200" dirty="0"/>
          </a:p>
        </p:txBody>
      </p:sp>
      <p:sp>
        <p:nvSpPr>
          <p:cNvPr id="63" name="Text 53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이랜드리테일 AI 캠퍼스 · PRD 워크플로우 스킬화 제안</a:t>
            </a:r>
            <a:endParaRPr lang="en-US" sz="900" dirty="0"/>
          </a:p>
        </p:txBody>
      </p:sp>
      <p:sp>
        <p:nvSpPr>
          <p:cNvPr id="64" name="Text 54"/>
          <p:cNvSpPr/>
          <p:nvPr/>
        </p:nvSpPr>
        <p:spPr>
          <a:xfrm>
            <a:off x="11155680" y="641908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오케스트레이터 · 권장 구성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개별 스킬 5개 + 얇은 오케스트레이터 1개 (하이브리드)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911535" cy="1234440"/>
          </a:xfrm>
          <a:prstGeom prst="roundRect">
            <a:avLst>
              <a:gd name="adj" fmla="val 7407"/>
            </a:avLst>
          </a:prstGeom>
          <a:solidFill>
            <a:srgbClr val="F5F8FE"/>
          </a:solidFill>
          <a:ln w="12700">
            <a:solidFill>
              <a:srgbClr val="D7E3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385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/prd-flow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8745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33172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/prd-new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42616" y="2651760"/>
            <a:ext cx="256032" cy="0"/>
          </a:xfrm>
          <a:prstGeom prst="line">
            <a:avLst/>
          </a:prstGeom>
          <a:noFill/>
          <a:ln w="25400">
            <a:solidFill>
              <a:srgbClr val="9FB2D6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935224" y="2331720"/>
            <a:ext cx="18745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35224" y="233172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/prd-review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6320" y="2651760"/>
            <a:ext cx="256032" cy="0"/>
          </a:xfrm>
          <a:prstGeom prst="line">
            <a:avLst/>
          </a:prstGeom>
          <a:noFill/>
          <a:ln w="25400">
            <a:solidFill>
              <a:srgbClr val="9FB2D6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138928" y="2331720"/>
            <a:ext cx="18745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38928" y="233172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/prd-commit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050024" y="2651760"/>
            <a:ext cx="256032" cy="0"/>
          </a:xfrm>
          <a:prstGeom prst="line">
            <a:avLst/>
          </a:prstGeom>
          <a:noFill/>
          <a:ln w="25400">
            <a:solidFill>
              <a:srgbClr val="9FB2D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342632" y="2331720"/>
            <a:ext cx="18745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875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42632" y="233172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27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/security-gate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253728" y="2651760"/>
            <a:ext cx="256032" cy="0"/>
          </a:xfrm>
          <a:prstGeom prst="line">
            <a:avLst/>
          </a:prstGeom>
          <a:noFill/>
          <a:ln w="25400">
            <a:solidFill>
              <a:srgbClr val="9FB2D6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546336" y="2331720"/>
            <a:ext cx="18745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875">
            <a:solidFill>
              <a:srgbClr val="15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46336" y="233172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/ship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3429000"/>
            <a:ext cx="5532120" cy="2606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sx="100000" sy="100000" kx="0" ky="0" algn="bl" rotWithShape="0" blurRad="114300" dist="38100" dir="5400000">
              <a:srgbClr val="5B6B86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96112" y="3666744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3776472"/>
            <a:ext cx="237744" cy="237744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481328" y="364845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개별 스킬로 두면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950976" y="4343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353312" y="43434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책임 — 테스트·수정 쉬움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950976" y="4764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1353312" y="476402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단계만 골라 호출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950976" y="5184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1353312" y="518464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프로젝트로 재사용 용이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950976" y="5605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1353312" y="560527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전체를 매번 수동으로 이어야 함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6400800" y="3429000"/>
            <a:ext cx="5532120" cy="2606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sx="100000" sy="100000" kx="0" ky="0" algn="bl" rotWithShape="0" blurRad="114300" dist="38100" dir="5400000">
              <a:srgbClr val="5B6B86">
                <a:alpha val="10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6656832" y="3666744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3776472"/>
            <a:ext cx="237744" cy="237744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7242048" y="364845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오케스트레이터로 묶으면</a:t>
            </a:r>
            <a:endParaRPr lang="en-US" sz="1500" dirty="0"/>
          </a:p>
        </p:txBody>
      </p:sp>
      <p:sp>
        <p:nvSpPr>
          <p:cNvPr id="36" name="Text 32"/>
          <p:cNvSpPr/>
          <p:nvPr/>
        </p:nvSpPr>
        <p:spPr>
          <a:xfrm>
            <a:off x="6711696" y="4343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400" dirty="0"/>
          </a:p>
        </p:txBody>
      </p:sp>
      <p:sp>
        <p:nvSpPr>
          <p:cNvPr id="37" name="Text 33"/>
          <p:cNvSpPr/>
          <p:nvPr/>
        </p:nvSpPr>
        <p:spPr>
          <a:xfrm>
            <a:off x="7114032" y="43434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“기획→배포” 한 번에 일관 실행</a:t>
            </a:r>
            <a:endParaRPr lang="en-US" sz="1250" dirty="0"/>
          </a:p>
        </p:txBody>
      </p:sp>
      <p:sp>
        <p:nvSpPr>
          <p:cNvPr id="38" name="Text 34"/>
          <p:cNvSpPr/>
          <p:nvPr/>
        </p:nvSpPr>
        <p:spPr>
          <a:xfrm>
            <a:off x="6711696" y="4764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400" dirty="0"/>
          </a:p>
        </p:txBody>
      </p:sp>
      <p:sp>
        <p:nvSpPr>
          <p:cNvPr id="39" name="Text 35"/>
          <p:cNvSpPr/>
          <p:nvPr/>
        </p:nvSpPr>
        <p:spPr>
          <a:xfrm>
            <a:off x="7114032" y="476402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 누락·순서 사고 방지</a:t>
            </a:r>
            <a:endParaRPr lang="en-US" sz="1250" dirty="0"/>
          </a:p>
        </p:txBody>
      </p:sp>
      <p:sp>
        <p:nvSpPr>
          <p:cNvPr id="40" name="Text 36"/>
          <p:cNvSpPr/>
          <p:nvPr/>
        </p:nvSpPr>
        <p:spPr>
          <a:xfrm>
            <a:off x="6711696" y="5184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400" dirty="0"/>
          </a:p>
        </p:txBody>
      </p:sp>
      <p:sp>
        <p:nvSpPr>
          <p:cNvPr id="41" name="Text 37"/>
          <p:cNvSpPr/>
          <p:nvPr/>
        </p:nvSpPr>
        <p:spPr>
          <a:xfrm>
            <a:off x="7114032" y="518464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직원에게 ‘정답 루트’ 제공</a:t>
            </a:r>
            <a:endParaRPr lang="en-US" sz="1250" dirty="0"/>
          </a:p>
        </p:txBody>
      </p:sp>
      <p:sp>
        <p:nvSpPr>
          <p:cNvPr id="42" name="Text 38"/>
          <p:cNvSpPr/>
          <p:nvPr/>
        </p:nvSpPr>
        <p:spPr>
          <a:xfrm>
            <a:off x="6711696" y="5605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</a:t>
            </a:r>
            <a:endParaRPr lang="en-US" sz="1400" dirty="0"/>
          </a:p>
        </p:txBody>
      </p:sp>
      <p:sp>
        <p:nvSpPr>
          <p:cNvPr id="43" name="Text 39"/>
          <p:cNvSpPr/>
          <p:nvPr/>
        </p:nvSpPr>
        <p:spPr>
          <a:xfrm>
            <a:off x="7114032" y="560527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단독 절차엔 다소 과함</a:t>
            </a:r>
            <a:endParaRPr lang="en-US" sz="1250" dirty="0"/>
          </a:p>
        </p:txBody>
      </p:sp>
      <p:sp>
        <p:nvSpPr>
          <p:cNvPr id="44" name="Text 40"/>
          <p:cNvSpPr/>
          <p:nvPr/>
        </p:nvSpPr>
        <p:spPr>
          <a:xfrm>
            <a:off x="640080" y="619963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권장   </a:t>
            </a:r>
            <a:pPr algn="ctr" indent="0" marL="0">
              <a:buNone/>
            </a:pPr>
            <a:r>
              <a:rPr lang="en-US" sz="1250" dirty="0">
                <a:solidFill>
                  <a:srgbClr val="1B2E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 다 — 단일 책임 스킬 5개를 만들고, 이를 호출만 하는 얇은 </a:t>
            </a:r>
            <a:pPr algn="ctr"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/prd-flow</a:t>
            </a:r>
            <a:pPr algn="ctr" indent="0" marL="0">
              <a:buNone/>
            </a:pPr>
            <a:r>
              <a:rPr lang="en-US" sz="1250" dirty="0">
                <a:solidFill>
                  <a:srgbClr val="1B2E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를 더한다.</a:t>
            </a:r>
            <a:endParaRPr lang="en-US" sz="1250" dirty="0"/>
          </a:p>
        </p:txBody>
      </p:sp>
      <p:sp>
        <p:nvSpPr>
          <p:cNvPr id="45" name="Text 41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이랜드리테일 AI 캠퍼스 · PRD 워크플로우 스킬화 제안</a:t>
            </a:r>
            <a:endParaRPr lang="en-US" sz="900" dirty="0"/>
          </a:p>
        </p:txBody>
      </p:sp>
      <p:sp>
        <p:nvSpPr>
          <p:cNvPr id="46" name="Text 42"/>
          <p:cNvSpPr/>
          <p:nvPr/>
        </p:nvSpPr>
        <p:spPr>
          <a:xfrm>
            <a:off x="11155680" y="641908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서비스에서 ‘특히 더’ 볼 것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과정 추가 체크포인트 — 이 프로젝트 특화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84778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sx="100000" sy="100000" kx="0" ky="0" algn="bl" rotWithShape="0" blurRad="114300" dist="38100" dir="5400000">
              <a:srgbClr val="5B6B86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77824" y="2093976"/>
            <a:ext cx="512064" cy="512064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0719" y="2216871"/>
            <a:ext cx="266273" cy="2662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075688"/>
            <a:ext cx="24789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PII / 개인정보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96112" y="2651760"/>
            <a:ext cx="302757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6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1,800명 실데이터 — 로그·클라이언트 응답·Sentry에 PII 금지</a:t>
            </a:r>
            <a:endParaRPr lang="en-US" sz="1060" dirty="0"/>
          </a:p>
        </p:txBody>
      </p:sp>
      <p:sp>
        <p:nvSpPr>
          <p:cNvPr id="9" name="Shape 6"/>
          <p:cNvSpPr/>
          <p:nvPr/>
        </p:nvSpPr>
        <p:spPr>
          <a:xfrm>
            <a:off x="4353458" y="1874520"/>
            <a:ext cx="3484778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sx="100000" sy="100000" kx="0" ky="0" algn="bl" rotWithShape="0" blurRad="114300" dist="38100" dir="5400000">
              <a:srgbClr val="5B6B86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1202" y="2093976"/>
            <a:ext cx="512064" cy="512064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098" y="2216871"/>
            <a:ext cx="266273" cy="26627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22138" y="2075688"/>
            <a:ext cx="24789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마이그레이션 안전성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609490" y="2651760"/>
            <a:ext cx="302757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6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멱등 migrate · 하위호환 · 컬럼 추가 시 기본값</a:t>
            </a:r>
            <a:endParaRPr lang="en-US" sz="1060" dirty="0"/>
          </a:p>
        </p:txBody>
      </p:sp>
      <p:sp>
        <p:nvSpPr>
          <p:cNvPr id="14" name="Shape 10"/>
          <p:cNvSpPr/>
          <p:nvPr/>
        </p:nvSpPr>
        <p:spPr>
          <a:xfrm>
            <a:off x="8066837" y="1874520"/>
            <a:ext cx="3484778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sx="100000" sy="100000" kx="0" ky="0" algn="bl" rotWithShape="0" blurRad="114300" dist="38100" dir="5400000">
              <a:srgbClr val="5B6B86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04581" y="2093976"/>
            <a:ext cx="512064" cy="512064"/>
          </a:xfrm>
          <a:prstGeom prst="ellipse">
            <a:avLst/>
          </a:prstGeom>
          <a:solidFill>
            <a:srgbClr val="26407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476" y="2216871"/>
            <a:ext cx="266273" cy="26627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35517" y="2075688"/>
            <a:ext cx="24789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인증·권한 회귀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322869" y="2651760"/>
            <a:ext cx="302757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6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admin API에 master/admin/user 체크 · 공개 API 레이트리밋</a:t>
            </a:r>
            <a:endParaRPr lang="en-US" sz="1060" dirty="0"/>
          </a:p>
        </p:txBody>
      </p:sp>
      <p:sp>
        <p:nvSpPr>
          <p:cNvPr id="19" name="Shape 14"/>
          <p:cNvSpPr/>
          <p:nvPr/>
        </p:nvSpPr>
        <p:spPr>
          <a:xfrm>
            <a:off x="640080" y="3300984"/>
            <a:ext cx="3484778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sx="100000" sy="100000" kx="0" ky="0" algn="bl" rotWithShape="0" blurRad="114300" dist="38100" dir="5400000">
              <a:srgbClr val="5B6B86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77824" y="3520440"/>
            <a:ext cx="512064" cy="512064"/>
          </a:xfrm>
          <a:prstGeom prst="ellipse">
            <a:avLst/>
          </a:prstGeom>
          <a:solidFill>
            <a:srgbClr val="0EA5A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719" y="3643335"/>
            <a:ext cx="266273" cy="26627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3502152"/>
            <a:ext cx="24789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모바일·안드로이드 패리티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896112" y="4078224"/>
            <a:ext cx="302757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6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app/m/* 라우트 동반 · Capacitor versionCode 증가</a:t>
            </a:r>
            <a:endParaRPr lang="en-US" sz="1060" dirty="0"/>
          </a:p>
        </p:txBody>
      </p:sp>
      <p:sp>
        <p:nvSpPr>
          <p:cNvPr id="24" name="Shape 18"/>
          <p:cNvSpPr/>
          <p:nvPr/>
        </p:nvSpPr>
        <p:spPr>
          <a:xfrm>
            <a:off x="4353458" y="3300984"/>
            <a:ext cx="3484778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sx="100000" sy="100000" kx="0" ky="0" algn="bl" rotWithShape="0" blurRad="114300" dist="38100" dir="5400000">
              <a:srgbClr val="5B6B86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91202" y="3520440"/>
            <a:ext cx="512064" cy="512064"/>
          </a:xfrm>
          <a:prstGeom prst="ellipse">
            <a:avLst/>
          </a:prstGeom>
          <a:solidFill>
            <a:srgbClr val="C2780C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098" y="3643335"/>
            <a:ext cx="266273" cy="26627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22138" y="3502152"/>
            <a:ext cx="24789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에러 통일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609490" y="4078224"/>
            <a:ext cx="302757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6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catch → ‘서버 오류가 발생했습니다.’ (raw 누출 금지)</a:t>
            </a:r>
            <a:endParaRPr lang="en-US" sz="1060" dirty="0"/>
          </a:p>
        </p:txBody>
      </p:sp>
      <p:sp>
        <p:nvSpPr>
          <p:cNvPr id="29" name="Shape 22"/>
          <p:cNvSpPr/>
          <p:nvPr/>
        </p:nvSpPr>
        <p:spPr>
          <a:xfrm>
            <a:off x="8066837" y="3300984"/>
            <a:ext cx="3484778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sx="100000" sy="100000" kx="0" ky="0" algn="bl" rotWithShape="0" blurRad="114300" dist="38100" dir="5400000">
              <a:srgbClr val="5B6B86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04581" y="3520440"/>
            <a:ext cx="512064" cy="512064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7476" y="3643335"/>
            <a:ext cx="266273" cy="26627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35517" y="3502152"/>
            <a:ext cx="24789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한글 인코딩 가드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322869" y="4078224"/>
            <a:ext cx="302757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6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U+FFFD 손상 문자 차단 (과거 실제 버그)</a:t>
            </a:r>
            <a:endParaRPr lang="en-US" sz="1060" dirty="0"/>
          </a:p>
        </p:txBody>
      </p:sp>
      <p:sp>
        <p:nvSpPr>
          <p:cNvPr id="34" name="Shape 26"/>
          <p:cNvSpPr/>
          <p:nvPr/>
        </p:nvSpPr>
        <p:spPr>
          <a:xfrm>
            <a:off x="640080" y="4727448"/>
            <a:ext cx="3484778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sx="100000" sy="100000" kx="0" ky="0" algn="bl" rotWithShape="0" blurRad="114300" dist="38100" dir="5400000">
              <a:srgbClr val="5B6B86">
                <a:alpha val="10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877824" y="4946904"/>
            <a:ext cx="512064" cy="512064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0719" y="5069799"/>
            <a:ext cx="266273" cy="266273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508760" y="4928616"/>
            <a:ext cx="24789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캐시 정합성</a:t>
            </a:r>
            <a:endParaRPr lang="en-US" sz="1350" dirty="0"/>
          </a:p>
        </p:txBody>
      </p:sp>
      <p:sp>
        <p:nvSpPr>
          <p:cNvPr id="38" name="Text 29"/>
          <p:cNvSpPr/>
          <p:nvPr/>
        </p:nvSpPr>
        <p:spPr>
          <a:xfrm>
            <a:off x="896112" y="5504688"/>
            <a:ext cx="302757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6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데이터는 no-store로 CDN s-maxage 우회</a:t>
            </a:r>
            <a:endParaRPr lang="en-US" sz="1060" dirty="0"/>
          </a:p>
        </p:txBody>
      </p:sp>
      <p:sp>
        <p:nvSpPr>
          <p:cNvPr id="39" name="Shape 30"/>
          <p:cNvSpPr/>
          <p:nvPr/>
        </p:nvSpPr>
        <p:spPr>
          <a:xfrm>
            <a:off x="4353458" y="4727448"/>
            <a:ext cx="3484778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sx="100000" sy="100000" kx="0" ky="0" algn="bl" rotWithShape="0" blurRad="114300" dist="38100" dir="5400000">
              <a:srgbClr val="5B6B86">
                <a:alpha val="10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4591202" y="4946904"/>
            <a:ext cx="512064" cy="512064"/>
          </a:xfrm>
          <a:prstGeom prst="ellipse">
            <a:avLst/>
          </a:prstGeom>
          <a:solidFill>
            <a:srgbClr val="15A34A"/>
          </a:solidFill>
          <a:ln/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14098" y="5069799"/>
            <a:ext cx="266273" cy="266273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5222138" y="4928616"/>
            <a:ext cx="24789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빌드 게이트</a:t>
            </a:r>
            <a:endParaRPr lang="en-US" sz="1350" dirty="0"/>
          </a:p>
        </p:txBody>
      </p:sp>
      <p:sp>
        <p:nvSpPr>
          <p:cNvPr id="43" name="Text 33"/>
          <p:cNvSpPr/>
          <p:nvPr/>
        </p:nvSpPr>
        <p:spPr>
          <a:xfrm>
            <a:off x="4609490" y="5504688"/>
            <a:ext cx="302757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6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tsc --noEmit + next build 통과를 커밋 기준에 포함</a:t>
            </a:r>
            <a:endParaRPr lang="en-US" sz="1060" dirty="0"/>
          </a:p>
        </p:txBody>
      </p:sp>
      <p:sp>
        <p:nvSpPr>
          <p:cNvPr id="44" name="Shape 34"/>
          <p:cNvSpPr/>
          <p:nvPr/>
        </p:nvSpPr>
        <p:spPr>
          <a:xfrm>
            <a:off x="8066837" y="4727448"/>
            <a:ext cx="3484778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sx="100000" sy="100000" kx="0" ky="0" algn="bl" rotWithShape="0" blurRad="114300" dist="38100" dir="5400000">
              <a:srgbClr val="5B6B86">
                <a:alpha val="10000"/>
              </a:srgbClr>
            </a:outerShdw>
          </a:effectLst>
        </p:spPr>
      </p:sp>
      <p:sp>
        <p:nvSpPr>
          <p:cNvPr id="45" name="Shape 35"/>
          <p:cNvSpPr/>
          <p:nvPr/>
        </p:nvSpPr>
        <p:spPr>
          <a:xfrm>
            <a:off x="8304581" y="4946904"/>
            <a:ext cx="512064" cy="512064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27476" y="5069799"/>
            <a:ext cx="266273" cy="266273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8935517" y="4928616"/>
            <a:ext cx="24789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env / 시크릿 위생</a:t>
            </a:r>
            <a:endParaRPr lang="en-US" sz="1350" dirty="0"/>
          </a:p>
        </p:txBody>
      </p:sp>
      <p:sp>
        <p:nvSpPr>
          <p:cNvPr id="48" name="Text 37"/>
          <p:cNvSpPr/>
          <p:nvPr/>
        </p:nvSpPr>
        <p:spPr>
          <a:xfrm>
            <a:off x="8322869" y="5504688"/>
            <a:ext cx="302757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6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.env.local.example + .gitleaks allowlist 동기화</a:t>
            </a:r>
            <a:endParaRPr lang="en-US" sz="1060" dirty="0"/>
          </a:p>
        </p:txBody>
      </p:sp>
      <p:sp>
        <p:nvSpPr>
          <p:cNvPr id="49" name="Text 38"/>
          <p:cNvSpPr/>
          <p:nvPr/>
        </p:nvSpPr>
        <p:spPr>
          <a:xfrm>
            <a:off x="640080" y="607161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64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이 9개는 /prd-review·/security-gate의 체크 항목과 CLAUDE.md 규칙으로 흡수한다.</a:t>
            </a:r>
            <a:endParaRPr lang="en-US" sz="1150" dirty="0"/>
          </a:p>
        </p:txBody>
      </p:sp>
      <p:sp>
        <p:nvSpPr>
          <p:cNvPr id="50" name="Text 39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이랜드리테일 AI 캠퍼스 · PRD 워크플로우 스킬화 제안</a:t>
            </a:r>
            <a:endParaRPr lang="en-US" sz="900" dirty="0"/>
          </a:p>
        </p:txBody>
      </p:sp>
      <p:sp>
        <p:nvSpPr>
          <p:cNvPr id="51" name="Text 40"/>
          <p:cNvSpPr/>
          <p:nvPr/>
        </p:nvSpPr>
        <p:spPr>
          <a:xfrm>
            <a:off x="11155680" y="641908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항상 적용되는 지침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CLAUDE.md — 지금 비어있다, 1순위로 채우기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640080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sx="100000" sy="100000" kx="0" ky="0" algn="bl" rotWithShape="0" blurRad="114300" dist="38100" dir="5400000">
              <a:srgbClr val="5B6B86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21408"/>
            <a:ext cx="548640" cy="548640"/>
          </a:xfrm>
          <a:prstGeom prst="ellipse">
            <a:avLst/>
          </a:prstGeom>
          <a:solidFill>
            <a:srgbClr val="26407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074" y="2253082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12140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CLAUDE.md에 넣을 항목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950976" y="2907792"/>
            <a:ext cx="109728" cy="109728"/>
          </a:xfrm>
          <a:prstGeom prst="ellipse">
            <a:avLst/>
          </a:prstGeom>
          <a:solidFill>
            <a:srgbClr val="26407A"/>
          </a:solidFill>
          <a:ln/>
        </p:spPr>
      </p:sp>
      <p:sp>
        <p:nvSpPr>
          <p:cNvPr id="9" name="Text 6"/>
          <p:cNvSpPr/>
          <p:nvPr/>
        </p:nvSpPr>
        <p:spPr>
          <a:xfrm>
            <a:off x="1188720" y="2798064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커밋·코드 컨벤션  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feat(scope) 한글 요약 + 본문 PRD 링크</a:t>
            </a:r>
            <a:endParaRPr lang="en-US" sz="1280" dirty="0"/>
          </a:p>
        </p:txBody>
      </p:sp>
      <p:sp>
        <p:nvSpPr>
          <p:cNvPr id="10" name="Shape 7"/>
          <p:cNvSpPr/>
          <p:nvPr/>
        </p:nvSpPr>
        <p:spPr>
          <a:xfrm>
            <a:off x="950976" y="3355848"/>
            <a:ext cx="109728" cy="109728"/>
          </a:xfrm>
          <a:prstGeom prst="ellipse">
            <a:avLst/>
          </a:prstGeom>
          <a:solidFill>
            <a:srgbClr val="26407A"/>
          </a:solidFill>
          <a:ln/>
        </p:spPr>
      </p:sp>
      <p:sp>
        <p:nvSpPr>
          <p:cNvPr id="11" name="Text 8"/>
          <p:cNvSpPr/>
          <p:nvPr/>
        </p:nvSpPr>
        <p:spPr>
          <a:xfrm>
            <a:off x="1188720" y="32461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§6 보안정책 요약  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OTP·bcrypt·JWT·레이트리밋·PII·에러통일 11항</a:t>
            </a:r>
            <a:endParaRPr lang="en-US" sz="1280" dirty="0"/>
          </a:p>
        </p:txBody>
      </p:sp>
      <p:sp>
        <p:nvSpPr>
          <p:cNvPr id="12" name="Shape 9"/>
          <p:cNvSpPr/>
          <p:nvPr/>
        </p:nvSpPr>
        <p:spPr>
          <a:xfrm>
            <a:off x="950976" y="3803904"/>
            <a:ext cx="109728" cy="109728"/>
          </a:xfrm>
          <a:prstGeom prst="ellipse">
            <a:avLst/>
          </a:prstGeom>
          <a:solidFill>
            <a:srgbClr val="26407A"/>
          </a:solidFill>
          <a:ln/>
        </p:spPr>
      </p:sp>
      <p:sp>
        <p:nvSpPr>
          <p:cNvPr id="13" name="Text 10"/>
          <p:cNvSpPr/>
          <p:nvPr/>
        </p:nvSpPr>
        <p:spPr>
          <a:xfrm>
            <a:off x="1188720" y="3694176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맵  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lib/session·admin-auth·jwt·email·attachments</a:t>
            </a:r>
            <a:endParaRPr lang="en-US" sz="1280" dirty="0"/>
          </a:p>
        </p:txBody>
      </p:sp>
      <p:sp>
        <p:nvSpPr>
          <p:cNvPr id="14" name="Shape 11"/>
          <p:cNvSpPr/>
          <p:nvPr/>
        </p:nvSpPr>
        <p:spPr>
          <a:xfrm>
            <a:off x="950976" y="4251960"/>
            <a:ext cx="109728" cy="109728"/>
          </a:xfrm>
          <a:prstGeom prst="ellipse">
            <a:avLst/>
          </a:prstGeom>
          <a:solidFill>
            <a:srgbClr val="26407A"/>
          </a:solidFill>
          <a:ln/>
        </p:spPr>
      </p:sp>
      <p:sp>
        <p:nvSpPr>
          <p:cNvPr id="15" name="Text 12"/>
          <p:cNvSpPr/>
          <p:nvPr/>
        </p:nvSpPr>
        <p:spPr>
          <a:xfrm>
            <a:off x="1188720" y="414223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빌드 게이트 규칙  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커밋·푸시 전 tsc --noEmit + next build</a:t>
            </a:r>
            <a:endParaRPr lang="en-US" sz="1280" dirty="0"/>
          </a:p>
        </p:txBody>
      </p:sp>
      <p:sp>
        <p:nvSpPr>
          <p:cNvPr id="16" name="Shape 13"/>
          <p:cNvSpPr/>
          <p:nvPr/>
        </p:nvSpPr>
        <p:spPr>
          <a:xfrm>
            <a:off x="950976" y="4700016"/>
            <a:ext cx="109728" cy="109728"/>
          </a:xfrm>
          <a:prstGeom prst="ellipse">
            <a:avLst/>
          </a:prstGeom>
          <a:solidFill>
            <a:srgbClr val="26407A"/>
          </a:solidFill>
          <a:ln/>
        </p:spPr>
      </p:sp>
      <p:sp>
        <p:nvSpPr>
          <p:cNvPr id="17" name="Text 14"/>
          <p:cNvSpPr/>
          <p:nvPr/>
        </p:nvSpPr>
        <p:spPr>
          <a:xfrm>
            <a:off x="1188720" y="459028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PII·에러통일·모바일 패리티  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응답 PII 제외 · raw 에러 금지 · app/m 동반</a:t>
            </a:r>
            <a:endParaRPr lang="en-US" sz="1280" dirty="0"/>
          </a:p>
        </p:txBody>
      </p:sp>
      <p:sp>
        <p:nvSpPr>
          <p:cNvPr id="18" name="Shape 15"/>
          <p:cNvSpPr/>
          <p:nvPr/>
        </p:nvSpPr>
        <p:spPr>
          <a:xfrm>
            <a:off x="950976" y="5148072"/>
            <a:ext cx="109728" cy="109728"/>
          </a:xfrm>
          <a:prstGeom prst="ellipse">
            <a:avLst/>
          </a:prstGeom>
          <a:solidFill>
            <a:srgbClr val="26407A"/>
          </a:solidFill>
          <a:ln/>
        </p:spPr>
      </p:sp>
      <p:sp>
        <p:nvSpPr>
          <p:cNvPr id="19" name="Text 16"/>
          <p:cNvSpPr/>
          <p:nvPr/>
        </p:nvSpPr>
        <p:spPr>
          <a:xfrm>
            <a:off x="1188720" y="5038344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마이그레이션 멱등 규칙  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컬럼은 migrate 엔드포인트로만</a:t>
            </a:r>
            <a:endParaRPr lang="en-US" sz="1280" dirty="0"/>
          </a:p>
        </p:txBody>
      </p:sp>
      <p:sp>
        <p:nvSpPr>
          <p:cNvPr id="20" name="Shape 17"/>
          <p:cNvSpPr/>
          <p:nvPr/>
        </p:nvSpPr>
        <p:spPr>
          <a:xfrm>
            <a:off x="950976" y="5596128"/>
            <a:ext cx="109728" cy="109728"/>
          </a:xfrm>
          <a:prstGeom prst="ellipse">
            <a:avLst/>
          </a:prstGeom>
          <a:solidFill>
            <a:srgbClr val="26407A"/>
          </a:solidFill>
          <a:ln/>
        </p:spPr>
      </p:sp>
      <p:sp>
        <p:nvSpPr>
          <p:cNvPr id="21" name="Text 18"/>
          <p:cNvSpPr/>
          <p:nvPr/>
        </p:nvSpPr>
        <p:spPr>
          <a:xfrm>
            <a:off x="1188720" y="54864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리빙독스 갱신 규칙  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커밋과 같은 PR에 CHANGELOG 갱신</a:t>
            </a:r>
            <a:endParaRPr lang="en-US" sz="1280" dirty="0"/>
          </a:p>
        </p:txBody>
      </p:sp>
      <p:sp>
        <p:nvSpPr>
          <p:cNvPr id="22" name="Shape 19"/>
          <p:cNvSpPr/>
          <p:nvPr/>
        </p:nvSpPr>
        <p:spPr>
          <a:xfrm>
            <a:off x="7269480" y="1874520"/>
            <a:ext cx="4892040" cy="1965960"/>
          </a:xfrm>
          <a:prstGeom prst="roundRect">
            <a:avLst>
              <a:gd name="adj" fmla="val 4186"/>
            </a:avLst>
          </a:prstGeom>
          <a:solidFill>
            <a:srgbClr val="0F1E46"/>
          </a:solidFill>
          <a:ln w="12700">
            <a:solidFill>
              <a:srgbClr val="0F1E46"/>
            </a:solidFill>
            <a:prstDash val="solid"/>
          </a:ln>
          <a:effectLst>
            <a:outerShdw sx="100000" sy="100000" kx="0" ky="0" algn="bl" rotWithShape="0" blurRad="114300" dist="38100" dir="5400000">
              <a:srgbClr val="5B6B86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525512" y="2084832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2194560"/>
            <a:ext cx="237744" cy="237744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8110728" y="206654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지침으로?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7543800" y="2606040"/>
            <a:ext cx="4343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7E1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규칙들은 ‘매번’ 적용돼야 한다. 스킬로 만들면 호출을 잊을 수 있지만, CLAUDE.md는 모든 작업에 자동으로 따라붙는다. 스킬·훅이 참조하는 단일 기준점이 된다.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7269480" y="3977640"/>
            <a:ext cx="4892040" cy="2057400"/>
          </a:xfrm>
          <a:prstGeom prst="roundRect">
            <a:avLst>
              <a:gd name="adj" fmla="val 4000"/>
            </a:avLst>
          </a:prstGeom>
          <a:solidFill>
            <a:srgbClr val="F5F8FE"/>
          </a:solidFill>
          <a:ln w="12700">
            <a:solidFill>
              <a:srgbClr val="D7E3FA"/>
            </a:solidFill>
            <a:prstDash val="solid"/>
          </a:ln>
          <a:effectLst>
            <a:outerShdw sx="100000" sy="100000" kx="0" ky="0" algn="bl" rotWithShape="0" blurRad="114300" dist="38100" dir="5400000">
              <a:srgbClr val="5B6B86">
                <a:alpha val="10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7525512" y="4187952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4297680"/>
            <a:ext cx="237744" cy="237744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8110728" y="416966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직원에게도 효과</a:t>
            </a:r>
            <a:endParaRPr lang="en-US" sz="1400" dirty="0"/>
          </a:p>
        </p:txBody>
      </p:sp>
      <p:sp>
        <p:nvSpPr>
          <p:cNvPr id="31" name="Text 26"/>
          <p:cNvSpPr/>
          <p:nvPr/>
        </p:nvSpPr>
        <p:spPr>
          <a:xfrm>
            <a:off x="7543800" y="4709160"/>
            <a:ext cx="4343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CLAUDE.md가 저장소에 있으면, 직원이 같은 코드를 열어 AI 코딩을 할 때 동일한 보안·품질 규칙이 자동 적용된다. ‘바이브 코딩’의 무절제를 막는 가드레일.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이랜드리테일 AI 캠퍼스 · PRD 워크플로우 스킬화 제안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11155680" y="641908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하드 가드레일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훅 한 겹 추가 + .claude 공유 문제 해결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66928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sx="100000" sy="100000" kx="0" ky="0" algn="bl" rotWithShape="0" blurRad="114300" dist="38100" dir="5400000">
              <a:srgbClr val="5B6B86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03120"/>
            <a:ext cx="530352" cy="530352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1684" y="2230404"/>
            <a:ext cx="275783" cy="2757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72768" y="21031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 훅 (husky)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914400" y="2788920"/>
            <a:ext cx="5120640" cy="96012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9" name="Text 6"/>
          <p:cNvSpPr/>
          <p:nvPr/>
        </p:nvSpPr>
        <p:spPr>
          <a:xfrm>
            <a:off x="1097280" y="2907792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있음   </a:t>
            </a:r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pre-commit · gitleaks
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스테이지된 변경에서 시크릿 자동 차단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914400" y="3886200"/>
            <a:ext cx="5120640" cy="960120"/>
          </a:xfrm>
          <a:prstGeom prst="roundRect">
            <a:avLst>
              <a:gd name="adj" fmla="val 6667"/>
            </a:avLst>
          </a:prstGeom>
          <a:solidFill>
            <a:srgbClr val="FFEAD6"/>
          </a:solidFill>
          <a:ln/>
        </p:spPr>
      </p:sp>
      <p:sp>
        <p:nvSpPr>
          <p:cNvPr id="11" name="Text 8"/>
          <p:cNvSpPr/>
          <p:nvPr/>
        </p:nvSpPr>
        <p:spPr>
          <a:xfrm>
            <a:off x="1097280" y="4005072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27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제안   </a:t>
            </a:r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pre-push · 빌드 + 시크릿 게이트
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tsc --noEmit + 푸시 범위 gitleaks detect 통과해야 push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14400" y="502920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264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직접 푸시 정책이므로, 푸시 직전 게이트가 곧 마지막 안전망.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537960" y="1874520"/>
            <a:ext cx="562356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sx="100000" sy="100000" kx="0" ky="0" algn="bl" rotWithShape="0" blurRad="114300" dist="38100" dir="5400000">
              <a:srgbClr val="5B6B86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812280" y="2103120"/>
            <a:ext cx="530352" cy="530352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9564" y="2230404"/>
            <a:ext cx="275783" cy="275783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470648" y="210312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수정 — 스킬을 공유 가능하게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812280" y="26974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 </a:t>
            </a:r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.gitignore</a:t>
            </a:r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가 </a:t>
            </a:r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</a:t>
            </a:r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를 통째로 제외 → 스킬·커맨드가 저장소에 안 올라감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812280" y="3291840"/>
            <a:ext cx="5074920" cy="1783080"/>
          </a:xfrm>
          <a:prstGeom prst="roundRect">
            <a:avLst>
              <a:gd name="adj" fmla="val 3590"/>
            </a:avLst>
          </a:prstGeom>
          <a:solidFill>
            <a:srgbClr val="0F1E46"/>
          </a:solidFill>
          <a:ln/>
        </p:spPr>
      </p:sp>
      <p:sp>
        <p:nvSpPr>
          <p:cNvPr id="19" name="Text 15"/>
          <p:cNvSpPr/>
          <p:nvPr/>
        </p:nvSpPr>
        <p:spPr>
          <a:xfrm>
            <a:off x="6995160" y="34015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.gitignore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6995160" y="3703320"/>
            <a:ext cx="4754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8FA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로컬 설정은 계속 제외
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7E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.claude/*
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8FA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공유할 자산은 예외(되살리기)
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8BE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!.claude/skills/
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8BE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!.claude/commands/
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8BE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!.claude/settings.json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6812280" y="521208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   </a:t>
            </a:r>
            <a:pPr indent="0" marL="0">
              <a:buNone/>
            </a:pPr>
            <a:r>
              <a:rPr lang="en-US" sz="1150" dirty="0">
                <a:solidFill>
                  <a:srgbClr val="1B2E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팀·실습 직원이 동일 스킬을 받아 보안·품질 표준이 자동 전파.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이랜드리테일 AI 캠퍼스 · PRD 워크플로우 스킬화 제안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1155680" y="641908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로드맵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자산 자동화부터 — 4단계, 약 2~3일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14802" y="2514600"/>
            <a:ext cx="201168" cy="0"/>
          </a:xfrm>
          <a:prstGeom prst="line">
            <a:avLst/>
          </a:prstGeom>
          <a:noFill/>
          <a:ln w="25400">
            <a:solidFill>
              <a:srgbClr val="9FB2D6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640080" y="2103120"/>
            <a:ext cx="2556434" cy="3657600"/>
          </a:xfrm>
          <a:prstGeom prst="roundRect">
            <a:avLst>
              <a:gd name="adj" fmla="val 3219"/>
            </a:avLst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sx="100000" sy="100000" kx="0" ky="0" algn="bl" rotWithShape="0" blurRad="114300" dist="38100" dir="5400000">
              <a:srgbClr val="5B6B86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103120"/>
            <a:ext cx="2556434" cy="82296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514600"/>
            <a:ext cx="2556434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22860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417320" y="2221992"/>
            <a:ext cx="16420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17320" y="2542032"/>
            <a:ext cx="16420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0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기반 다지기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68680" y="3108960"/>
            <a:ext cx="2099234" cy="411480"/>
          </a:xfrm>
          <a:prstGeom prst="roundRect">
            <a:avLst>
              <a:gd name="adj" fmla="val 22222"/>
            </a:avLst>
          </a:prstGeom>
          <a:solidFill>
            <a:srgbClr val="F5F8FE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108960"/>
            <a:ext cx="20992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</a:t>
            </a:r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반나절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96112" y="37490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70432" y="3749040"/>
            <a:ext cx="18249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CLAUDE.md 작성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96112" y="435254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70432" y="4352544"/>
            <a:ext cx="18249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.gitignore 예외 수정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96112" y="495604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70432" y="4956048"/>
            <a:ext cx="18249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/security-gate · /prd-commit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999836" y="2514600"/>
            <a:ext cx="201168" cy="0"/>
          </a:xfrm>
          <a:prstGeom prst="line">
            <a:avLst/>
          </a:prstGeom>
          <a:noFill/>
          <a:ln w="25400">
            <a:solidFill>
              <a:srgbClr val="9FB2D6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425114" y="2103120"/>
            <a:ext cx="2556434" cy="3657600"/>
          </a:xfrm>
          <a:prstGeom prst="roundRect">
            <a:avLst>
              <a:gd name="adj" fmla="val 3219"/>
            </a:avLst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sx="100000" sy="100000" kx="0" ky="0" algn="bl" rotWithShape="0" blurRad="114300" dist="38100" dir="5400000">
              <a:srgbClr val="5B6B86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425114" y="2103120"/>
            <a:ext cx="2556434" cy="822960"/>
          </a:xfrm>
          <a:prstGeom prst="roundRect">
            <a:avLst>
              <a:gd name="adj" fmla="val 10000"/>
            </a:avLst>
          </a:prstGeom>
          <a:solidFill>
            <a:srgbClr val="26407A"/>
          </a:solidFill>
          <a:ln/>
        </p:spPr>
      </p:sp>
      <p:sp>
        <p:nvSpPr>
          <p:cNvPr id="23" name="Shape 21"/>
          <p:cNvSpPr/>
          <p:nvPr/>
        </p:nvSpPr>
        <p:spPr>
          <a:xfrm>
            <a:off x="3425114" y="2514600"/>
            <a:ext cx="2556434" cy="411480"/>
          </a:xfrm>
          <a:prstGeom prst="rect">
            <a:avLst/>
          </a:prstGeom>
          <a:solidFill>
            <a:srgbClr val="26407A"/>
          </a:solidFill>
          <a:ln/>
        </p:spPr>
      </p:sp>
      <p:sp>
        <p:nvSpPr>
          <p:cNvPr id="24" name="Shape 22"/>
          <p:cNvSpPr/>
          <p:nvPr/>
        </p:nvSpPr>
        <p:spPr>
          <a:xfrm>
            <a:off x="3653714" y="22860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3653714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64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202354" y="2221992"/>
            <a:ext cx="16420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202354" y="2542032"/>
            <a:ext cx="16420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0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PRD 표준화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653714" y="3108960"/>
            <a:ext cx="2099234" cy="411480"/>
          </a:xfrm>
          <a:prstGeom prst="roundRect">
            <a:avLst>
              <a:gd name="adj" fmla="val 22222"/>
            </a:avLst>
          </a:prstGeom>
          <a:solidFill>
            <a:srgbClr val="F5F8FE"/>
          </a:solidFill>
          <a:ln/>
        </p:spPr>
      </p:sp>
      <p:sp>
        <p:nvSpPr>
          <p:cNvPr id="29" name="Text 27"/>
          <p:cNvSpPr/>
          <p:nvPr/>
        </p:nvSpPr>
        <p:spPr>
          <a:xfrm>
            <a:off x="3653714" y="3108960"/>
            <a:ext cx="20992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</a:t>
            </a:r>
            <a:pPr algn="ctr" indent="0" marL="0">
              <a:buNone/>
            </a:pPr>
            <a:r>
              <a:rPr lang="en-US" sz="1300" b="1" dirty="0">
                <a:solidFill>
                  <a:srgbClr val="264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1일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681146" y="37490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64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955466" y="3749040"/>
            <a:ext cx="18249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/prd-new (템플릿화)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681146" y="435254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64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955466" y="4352544"/>
            <a:ext cx="18249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/prd-review (루브릭)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3681146" y="495604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64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955466" y="4956048"/>
            <a:ext cx="18249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9개 특화 체크 반영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784869" y="2514600"/>
            <a:ext cx="201168" cy="0"/>
          </a:xfrm>
          <a:prstGeom prst="line">
            <a:avLst/>
          </a:prstGeom>
          <a:noFill/>
          <a:ln w="25400">
            <a:solidFill>
              <a:srgbClr val="9FB2D6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6210148" y="2103120"/>
            <a:ext cx="2556434" cy="3657600"/>
          </a:xfrm>
          <a:prstGeom prst="roundRect">
            <a:avLst>
              <a:gd name="adj" fmla="val 3219"/>
            </a:avLst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sx="100000" sy="100000" kx="0" ky="0" algn="bl" rotWithShape="0" blurRad="114300" dist="38100" dir="5400000">
              <a:srgbClr val="5B6B86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210148" y="2103120"/>
            <a:ext cx="2556434" cy="822960"/>
          </a:xfrm>
          <a:prstGeom prst="roundRect">
            <a:avLst>
              <a:gd name="adj" fmla="val 10000"/>
            </a:avLst>
          </a:prstGeom>
          <a:solidFill>
            <a:srgbClr val="F97316"/>
          </a:solidFill>
          <a:ln/>
        </p:spPr>
      </p:sp>
      <p:sp>
        <p:nvSpPr>
          <p:cNvPr id="39" name="Shape 37"/>
          <p:cNvSpPr/>
          <p:nvPr/>
        </p:nvSpPr>
        <p:spPr>
          <a:xfrm>
            <a:off x="6210148" y="2514600"/>
            <a:ext cx="2556434" cy="4114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0" name="Shape 38"/>
          <p:cNvSpPr/>
          <p:nvPr/>
        </p:nvSpPr>
        <p:spPr>
          <a:xfrm>
            <a:off x="6438748" y="22860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6438748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987388" y="2221992"/>
            <a:ext cx="16420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6987388" y="2542032"/>
            <a:ext cx="16420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0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자동화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438748" y="3108960"/>
            <a:ext cx="2099234" cy="411480"/>
          </a:xfrm>
          <a:prstGeom prst="roundRect">
            <a:avLst>
              <a:gd name="adj" fmla="val 22222"/>
            </a:avLst>
          </a:prstGeom>
          <a:solidFill>
            <a:srgbClr val="F5F8FE"/>
          </a:solidFill>
          <a:ln/>
        </p:spPr>
      </p:sp>
      <p:sp>
        <p:nvSpPr>
          <p:cNvPr id="45" name="Text 43"/>
          <p:cNvSpPr/>
          <p:nvPr/>
        </p:nvSpPr>
        <p:spPr>
          <a:xfrm>
            <a:off x="6438748" y="3108960"/>
            <a:ext cx="20992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</a:t>
            </a:r>
            <a:pPr algn="ctr" indent="0" marL="0">
              <a:buNone/>
            </a:pPr>
            <a:r>
              <a:rPr lang="en-US" sz="1300" b="1" dirty="0">
                <a:solidFill>
                  <a:srgbClr val="C27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0.5일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466180" y="37490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7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740500" y="3749040"/>
            <a:ext cx="18249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/ship 게이트 체인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6466180" y="435254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7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740500" y="4352544"/>
            <a:ext cx="18249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pre-push 훅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6466180" y="495604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7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740500" y="4956048"/>
            <a:ext cx="18249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/prd-flow 오케스트레이터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8995181" y="2103120"/>
            <a:ext cx="2556434" cy="3657600"/>
          </a:xfrm>
          <a:prstGeom prst="roundRect">
            <a:avLst>
              <a:gd name="adj" fmla="val 3219"/>
            </a:avLst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sx="100000" sy="100000" kx="0" ky="0" algn="bl" rotWithShape="0" blurRad="114300" dist="38100" dir="5400000">
              <a:srgbClr val="5B6B86">
                <a:alpha val="1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8995181" y="2103120"/>
            <a:ext cx="2556434" cy="822960"/>
          </a:xfrm>
          <a:prstGeom prst="roundRect">
            <a:avLst>
              <a:gd name="adj" fmla="val 10000"/>
            </a:avLst>
          </a:prstGeom>
          <a:solidFill>
            <a:srgbClr val="15A34A"/>
          </a:solidFill>
          <a:ln/>
        </p:spPr>
      </p:sp>
      <p:sp>
        <p:nvSpPr>
          <p:cNvPr id="54" name="Shape 52"/>
          <p:cNvSpPr/>
          <p:nvPr/>
        </p:nvSpPr>
        <p:spPr>
          <a:xfrm>
            <a:off x="8995181" y="2514600"/>
            <a:ext cx="2556434" cy="411480"/>
          </a:xfrm>
          <a:prstGeom prst="rect">
            <a:avLst/>
          </a:prstGeom>
          <a:solidFill>
            <a:srgbClr val="15A34A"/>
          </a:solidFill>
          <a:ln/>
        </p:spPr>
      </p:sp>
      <p:sp>
        <p:nvSpPr>
          <p:cNvPr id="55" name="Shape 53"/>
          <p:cNvSpPr/>
          <p:nvPr/>
        </p:nvSpPr>
        <p:spPr>
          <a:xfrm>
            <a:off x="9223781" y="22860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6" name="Text 54"/>
          <p:cNvSpPr/>
          <p:nvPr/>
        </p:nvSpPr>
        <p:spPr>
          <a:xfrm>
            <a:off x="9223781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9772421" y="2221992"/>
            <a:ext cx="16420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4</a:t>
            </a:r>
            <a:endParaRPr lang="en-US" sz="1500" dirty="0"/>
          </a:p>
        </p:txBody>
      </p:sp>
      <p:sp>
        <p:nvSpPr>
          <p:cNvPr id="58" name="Text 56"/>
          <p:cNvSpPr/>
          <p:nvPr/>
        </p:nvSpPr>
        <p:spPr>
          <a:xfrm>
            <a:off x="9772421" y="2542032"/>
            <a:ext cx="16420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0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전사 확산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9223781" y="3108960"/>
            <a:ext cx="2099234" cy="411480"/>
          </a:xfrm>
          <a:prstGeom prst="roundRect">
            <a:avLst>
              <a:gd name="adj" fmla="val 22222"/>
            </a:avLst>
          </a:prstGeom>
          <a:solidFill>
            <a:srgbClr val="F5F8FE"/>
          </a:solidFill>
          <a:ln/>
        </p:spPr>
      </p:sp>
      <p:sp>
        <p:nvSpPr>
          <p:cNvPr id="60" name="Text 58"/>
          <p:cNvSpPr/>
          <p:nvPr/>
        </p:nvSpPr>
        <p:spPr>
          <a:xfrm>
            <a:off x="9223781" y="3108960"/>
            <a:ext cx="20992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</a:t>
            </a:r>
            <a:pPr algn="ctr" indent="0" marL="0">
              <a:buNone/>
            </a:pPr>
            <a:r>
              <a:rPr lang="en-US" sz="1300" b="1" dirty="0">
                <a:solidFill>
                  <a:srgbClr val="15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지속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9251213" y="37490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5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9525533" y="3749040"/>
            <a:ext cx="18249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1,800명 배포 가이드</a:t>
            </a:r>
            <a:endParaRPr lang="en-US" sz="1150" dirty="0"/>
          </a:p>
        </p:txBody>
      </p:sp>
      <p:sp>
        <p:nvSpPr>
          <p:cNvPr id="63" name="Text 61"/>
          <p:cNvSpPr/>
          <p:nvPr/>
        </p:nvSpPr>
        <p:spPr>
          <a:xfrm>
            <a:off x="9251213" y="435254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5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9525533" y="4352544"/>
            <a:ext cx="18249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모드(가드레일 강화)</a:t>
            </a:r>
            <a:endParaRPr lang="en-US" sz="1150" dirty="0"/>
          </a:p>
        </p:txBody>
      </p:sp>
      <p:sp>
        <p:nvSpPr>
          <p:cNvPr id="65" name="Text 63"/>
          <p:cNvSpPr/>
          <p:nvPr/>
        </p:nvSpPr>
        <p:spPr>
          <a:xfrm>
            <a:off x="9251213" y="495604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5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9525533" y="4956048"/>
            <a:ext cx="18249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피드백 반영·개선</a:t>
            </a:r>
            <a:endParaRPr lang="en-US" sz="1150" dirty="0"/>
          </a:p>
        </p:txBody>
      </p:sp>
      <p:sp>
        <p:nvSpPr>
          <p:cNvPr id="67" name="Text 65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이랜드리테일 AI 캠퍼스 · PRD 워크플로우 스킬화 제안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11155680" y="641908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822960"/>
            <a:ext cx="2468880" cy="2468880"/>
          </a:xfrm>
          <a:prstGeom prst="ellipse">
            <a:avLst/>
          </a:prstGeom>
          <a:solidFill>
            <a:srgbClr val="1B2E5E"/>
          </a:solidFill>
          <a:ln/>
        </p:spPr>
      </p:sp>
      <p:sp>
        <p:nvSpPr>
          <p:cNvPr id="3" name="Shape 1"/>
          <p:cNvSpPr/>
          <p:nvPr/>
        </p:nvSpPr>
        <p:spPr>
          <a:xfrm>
            <a:off x="-640080" y="5120640"/>
            <a:ext cx="2194560" cy="2194560"/>
          </a:xfrm>
          <a:prstGeom prst="ellipse">
            <a:avLst/>
          </a:prstGeom>
          <a:solidFill>
            <a:srgbClr val="1B2E5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0233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 · 다음 단계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규칙은 있다. 이제 ‘자동 실행’으로.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566928" cy="566928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143" y="2193463"/>
            <a:ext cx="294803" cy="29480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205740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탄탄한 기반   </a:t>
            </a:r>
            <a:pPr indent="0" marL="0">
              <a:buNone/>
            </a:pPr>
            <a:r>
              <a:rPr lang="en-US" sz="1300" dirty="0">
                <a:solidFill>
                  <a:srgbClr val="C9D6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PRD 템플릿·리빙독스·보안정책·gitleaks가 이미 있다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40080" y="2807208"/>
            <a:ext cx="566928" cy="566928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143" y="2943271"/>
            <a:ext cx="294803" cy="29480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2807208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3겹으로 자동화   </a:t>
            </a:r>
            <a:pPr indent="0" marL="0">
              <a:buNone/>
            </a:pPr>
            <a:r>
              <a:rPr lang="en-US" sz="1300" dirty="0">
                <a:solidFill>
                  <a:srgbClr val="C9D6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스킬(실행) · CLAUDE.md(맥락) · 훅(강제)으로 역할 분담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40080" y="3557016"/>
            <a:ext cx="566928" cy="566928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143" y="3693079"/>
            <a:ext cx="294803" cy="29480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3557016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전사 표준 전파   </a:t>
            </a:r>
            <a:pPr indent="0" marL="0">
              <a:buNone/>
            </a:pPr>
            <a:r>
              <a:rPr lang="en-US" sz="1300" dirty="0">
                <a:solidFill>
                  <a:srgbClr val="C9D6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.claude 공유 + CLAUDE.md로 1,800명에 동일 가드레일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640080" y="4526280"/>
            <a:ext cx="10911535" cy="1417320"/>
          </a:xfrm>
          <a:prstGeom prst="roundRect">
            <a:avLst>
              <a:gd name="adj" fmla="val 6452"/>
            </a:avLst>
          </a:prstGeom>
          <a:solidFill>
            <a:srgbClr val="1B2E5E"/>
          </a:solidFill>
          <a:ln w="12700">
            <a:solidFill>
              <a:srgbClr val="26407A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960120" y="4828032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1794" y="4959706"/>
            <a:ext cx="285293" cy="28529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691640" y="473659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 — 바로 만들어 드릴 수 있습니다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691640" y="5193792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7E1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CLAUDE.md + .gitignore 예외부터  </a:t>
            </a:r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7E1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/security-gate · /prd-commit  </a:t>
            </a:r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7E1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나머지 스킬 + /prd-flow + pre-push 훅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640080" y="6172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것부터 시작할까요?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캠퍼스 — PRD 워크플로우 스킬화 제안</dc:title>
  <dc:subject>PptxGenJS Presentation</dc:subject>
  <dc:creator>Claude</dc:creator>
  <cp:lastModifiedBy>Claude</cp:lastModifiedBy>
  <cp:revision>1</cp:revision>
  <dcterms:created xsi:type="dcterms:W3CDTF">2026-06-06T01:02:26Z</dcterms:created>
  <dcterms:modified xsi:type="dcterms:W3CDTF">2026-06-06T01:02:26Z</dcterms:modified>
</cp:coreProperties>
</file>